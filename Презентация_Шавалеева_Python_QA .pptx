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0" r:id="rId4"/>
    <p:sldId id="258" r:id="rId5"/>
    <p:sldId id="271" r:id="rId6"/>
    <p:sldId id="259" r:id="rId7"/>
    <p:sldId id="260" r:id="rId8"/>
    <p:sldId id="261" r:id="rId9"/>
    <p:sldId id="262" r:id="rId10"/>
    <p:sldId id="263" r:id="rId11"/>
    <p:sldId id="272" r:id="rId12"/>
    <p:sldId id="273" r:id="rId13"/>
    <p:sldId id="274" r:id="rId14"/>
    <p:sldId id="265" r:id="rId15"/>
    <p:sldId id="267" r:id="rId16"/>
    <p:sldId id="264" r:id="rId17"/>
    <p:sldId id="268" r:id="rId18"/>
    <p:sldId id="269" r:id="rId19"/>
  </p:sldIdLst>
  <p:sldSz cx="8159750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8" userDrawn="1">
          <p15:clr>
            <a:srgbClr val="A4A3A4"/>
          </p15:clr>
        </p15:guide>
        <p15:guide id="2" pos="19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1579" y="86"/>
      </p:cViewPr>
      <p:guideLst>
        <p:guide orient="horz" pos="1928"/>
        <p:guide pos="192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8521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/>
              <a:t>Добрый день, уважаемая комиссия!</a:t>
            </a:r>
          </a:p>
          <a:p>
            <a:endParaRPr sz="1400"/>
          </a:p>
          <a:p>
            <a:r>
              <a:rPr sz="1400"/>
              <a:t>Меня зовут Шавалеева Анастасия Александровна. Разрешите представить вашему вниманию дипломную работу на тему «Проектирование и реализация системы автоматизированного тестирования веб-интерфейса медицинского сайта Alimma».</a:t>
            </a:r>
          </a:p>
          <a:p>
            <a:endParaRPr sz="1400"/>
          </a:p>
          <a:p>
            <a:r>
              <a:rPr sz="1400"/>
              <a:t>Работа выполнена в рамках курса «Тестирование ПО» Академии ТОП по специализации Python 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/>
              <a:t>Целью работы является разработка полноценной системы автоматизированных тестов для сайта медицинской клиники «Alimma».</a:t>
            </a:r>
          </a:p>
          <a:p>
            <a:endParaRPr sz="1400"/>
          </a:p>
          <a:p>
            <a:r>
              <a:rPr sz="1400"/>
              <a:t>Для достижения цели были поставлены семь задач: начиная с изучения объекта тестирования и теоретических основ — и заканчивая практической реализацией тестов и формированием отчётов.</a:t>
            </a:r>
          </a:p>
          <a:p>
            <a:endParaRPr sz="1400"/>
          </a:p>
          <a:p>
            <a:r>
              <a:rPr sz="1400"/>
              <a:t>Особо хочу выделить две ключевые задачи: обоснование выбора инструментов — почему именно Python, PyTest и Playwright — и реализацию архитектуры по паттерну Page Object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 dirty="0" err="1"/>
              <a:t>Объектом</a:t>
            </a:r>
            <a:r>
              <a:rPr sz="1400" dirty="0"/>
              <a:t> </a:t>
            </a:r>
            <a:r>
              <a:rPr sz="1400" dirty="0" err="1"/>
              <a:t>тестирования</a:t>
            </a:r>
            <a:r>
              <a:rPr sz="1400" dirty="0"/>
              <a:t> </a:t>
            </a:r>
            <a:r>
              <a:rPr sz="1400" dirty="0" err="1"/>
              <a:t>выбран</a:t>
            </a:r>
            <a:r>
              <a:rPr sz="1400" dirty="0"/>
              <a:t> </a:t>
            </a:r>
            <a:r>
              <a:rPr sz="1400" dirty="0" err="1"/>
              <a:t>сайт</a:t>
            </a:r>
            <a:r>
              <a:rPr sz="1400" dirty="0"/>
              <a:t> </a:t>
            </a:r>
            <a:r>
              <a:rPr sz="1400" dirty="0" err="1"/>
              <a:t>медицинской</a:t>
            </a:r>
            <a:r>
              <a:rPr sz="1400" dirty="0"/>
              <a:t> </a:t>
            </a:r>
            <a:r>
              <a:rPr sz="1400" dirty="0" err="1"/>
              <a:t>клиники</a:t>
            </a:r>
            <a:r>
              <a:rPr sz="1400" dirty="0"/>
              <a:t> «</a:t>
            </a:r>
            <a:r>
              <a:rPr sz="1400" dirty="0" err="1"/>
              <a:t>Alimma</a:t>
            </a:r>
            <a:r>
              <a:rPr sz="1400" dirty="0"/>
              <a:t>» — alimma-ufa.ru.</a:t>
            </a:r>
          </a:p>
          <a:p>
            <a:endParaRPr sz="1400" dirty="0"/>
          </a:p>
          <a:p>
            <a:r>
              <a:rPr sz="1400" dirty="0" err="1"/>
              <a:t>Это</a:t>
            </a:r>
            <a:r>
              <a:rPr sz="1400" dirty="0"/>
              <a:t> </a:t>
            </a:r>
            <a:r>
              <a:rPr sz="1400" dirty="0" err="1"/>
              <a:t>многостраничный</a:t>
            </a:r>
            <a:r>
              <a:rPr sz="1400" dirty="0"/>
              <a:t> </a:t>
            </a:r>
            <a:r>
              <a:rPr sz="1400" dirty="0" err="1"/>
              <a:t>медицинский</a:t>
            </a:r>
            <a:r>
              <a:rPr sz="1400" dirty="0"/>
              <a:t> </a:t>
            </a:r>
            <a:r>
              <a:rPr sz="1400" dirty="0" err="1"/>
              <a:t>сайт</a:t>
            </a:r>
            <a:r>
              <a:rPr sz="1400" dirty="0"/>
              <a:t> с </a:t>
            </a:r>
            <a:r>
              <a:rPr sz="1400" dirty="0" err="1"/>
              <a:t>каталогом</a:t>
            </a:r>
            <a:r>
              <a:rPr sz="1400" dirty="0"/>
              <a:t> </a:t>
            </a:r>
            <a:r>
              <a:rPr sz="1400" dirty="0" err="1"/>
              <a:t>врачей</a:t>
            </a:r>
            <a:r>
              <a:rPr sz="1400" dirty="0"/>
              <a:t>, </a:t>
            </a:r>
            <a:r>
              <a:rPr sz="1400" dirty="0" err="1"/>
              <a:t>страницами</a:t>
            </a:r>
            <a:r>
              <a:rPr sz="1400" dirty="0"/>
              <a:t> </a:t>
            </a:r>
            <a:r>
              <a:rPr sz="1400" dirty="0" err="1"/>
              <a:t>услуг</a:t>
            </a:r>
            <a:r>
              <a:rPr sz="1400" dirty="0"/>
              <a:t>, </a:t>
            </a:r>
            <a:r>
              <a:rPr sz="1400" dirty="0" err="1"/>
              <a:t>онлайн-записью</a:t>
            </a:r>
            <a:r>
              <a:rPr sz="1400" dirty="0"/>
              <a:t> </a:t>
            </a:r>
            <a:r>
              <a:rPr sz="1400" dirty="0" err="1"/>
              <a:t>на</a:t>
            </a:r>
            <a:r>
              <a:rPr sz="1400" dirty="0"/>
              <a:t> </a:t>
            </a:r>
            <a:r>
              <a:rPr sz="1400" dirty="0" err="1"/>
              <a:t>приём</a:t>
            </a:r>
            <a:r>
              <a:rPr sz="1400" dirty="0"/>
              <a:t> и </a:t>
            </a:r>
            <a:r>
              <a:rPr sz="1400" dirty="0" err="1"/>
              <a:t>интеграцией</a:t>
            </a:r>
            <a:r>
              <a:rPr sz="1400" dirty="0"/>
              <a:t> с </a:t>
            </a:r>
            <a:r>
              <a:rPr sz="1400" dirty="0" err="1"/>
              <a:t>внешними</a:t>
            </a:r>
            <a:r>
              <a:rPr sz="1400" dirty="0"/>
              <a:t> </a:t>
            </a:r>
            <a:r>
              <a:rPr sz="1400" dirty="0" err="1"/>
              <a:t>сервисами</a:t>
            </a:r>
            <a:r>
              <a:rPr sz="1400" dirty="0"/>
              <a:t> — WhatsApp-</a:t>
            </a:r>
            <a:r>
              <a:rPr sz="1400" dirty="0" err="1"/>
              <a:t>виджетом</a:t>
            </a:r>
            <a:r>
              <a:rPr sz="1400" dirty="0"/>
              <a:t> и </a:t>
            </a:r>
            <a:r>
              <a:rPr sz="1400" dirty="0" err="1"/>
              <a:t>порталом</a:t>
            </a:r>
            <a:r>
              <a:rPr sz="1400" dirty="0"/>
              <a:t> </a:t>
            </a:r>
            <a:r>
              <a:rPr sz="1400" dirty="0" err="1"/>
              <a:t>Prodoctorov</a:t>
            </a:r>
            <a:r>
              <a:rPr sz="1400" dirty="0"/>
              <a:t>.</a:t>
            </a:r>
          </a:p>
          <a:p>
            <a:endParaRPr sz="1400" dirty="0"/>
          </a:p>
          <a:p>
            <a:r>
              <a:rPr sz="1400" dirty="0" err="1"/>
              <a:t>На</a:t>
            </a:r>
            <a:r>
              <a:rPr sz="1400" dirty="0"/>
              <a:t> </a:t>
            </a:r>
            <a:r>
              <a:rPr sz="1400" dirty="0" err="1"/>
              <a:t>слайде</a:t>
            </a:r>
            <a:r>
              <a:rPr sz="1400" dirty="0"/>
              <a:t> </a:t>
            </a:r>
            <a:r>
              <a:rPr sz="1400" dirty="0" err="1"/>
              <a:t>справа</a:t>
            </a:r>
            <a:r>
              <a:rPr sz="1400" dirty="0"/>
              <a:t> </a:t>
            </a:r>
            <a:r>
              <a:rPr sz="1400" dirty="0" err="1"/>
              <a:t>вы</a:t>
            </a:r>
            <a:r>
              <a:rPr sz="1400" dirty="0"/>
              <a:t> </a:t>
            </a:r>
            <a:r>
              <a:rPr sz="1400" dirty="0" err="1"/>
              <a:t>видите</a:t>
            </a:r>
            <a:r>
              <a:rPr sz="1400" dirty="0"/>
              <a:t> </a:t>
            </a:r>
            <a:r>
              <a:rPr sz="1400" dirty="0" err="1"/>
              <a:t>тестируемые</a:t>
            </a:r>
            <a:r>
              <a:rPr sz="1400" dirty="0"/>
              <a:t> </a:t>
            </a:r>
            <a:r>
              <a:rPr sz="1400" dirty="0" err="1"/>
              <a:t>сценарии</a:t>
            </a:r>
            <a:r>
              <a:rPr sz="1400" dirty="0"/>
              <a:t>: </a:t>
            </a:r>
            <a:r>
              <a:rPr sz="1400" dirty="0" err="1"/>
              <a:t>всего</a:t>
            </a:r>
            <a:r>
              <a:rPr sz="1400" dirty="0"/>
              <a:t> </a:t>
            </a:r>
            <a:r>
              <a:rPr sz="1400" dirty="0" err="1"/>
              <a:t>их</a:t>
            </a:r>
            <a:r>
              <a:rPr sz="1400" dirty="0"/>
              <a:t> </a:t>
            </a:r>
            <a:r>
              <a:rPr sz="1400" dirty="0" err="1"/>
              <a:t>девять</a:t>
            </a:r>
            <a:r>
              <a:rPr sz="1400" dirty="0"/>
              <a:t> </a:t>
            </a:r>
            <a:r>
              <a:rPr sz="1400" dirty="0" err="1"/>
              <a:t>групп</a:t>
            </a:r>
            <a:r>
              <a:rPr sz="1400" dirty="0"/>
              <a:t> — </a:t>
            </a:r>
            <a:r>
              <a:rPr sz="1400" dirty="0" err="1"/>
              <a:t>от</a:t>
            </a:r>
            <a:r>
              <a:rPr sz="1400" dirty="0"/>
              <a:t> </a:t>
            </a:r>
            <a:r>
              <a:rPr sz="1400" dirty="0" err="1"/>
              <a:t>загрузки</a:t>
            </a:r>
            <a:r>
              <a:rPr sz="1400" dirty="0"/>
              <a:t> </a:t>
            </a:r>
            <a:r>
              <a:rPr sz="1400" dirty="0" err="1"/>
              <a:t>главной</a:t>
            </a:r>
            <a:r>
              <a:rPr sz="1400" dirty="0"/>
              <a:t> </a:t>
            </a:r>
            <a:r>
              <a:rPr sz="1400" dirty="0" err="1"/>
              <a:t>страницы</a:t>
            </a:r>
            <a:r>
              <a:rPr sz="1400" dirty="0"/>
              <a:t> </a:t>
            </a:r>
            <a:r>
              <a:rPr sz="1400" dirty="0" err="1"/>
              <a:t>до</a:t>
            </a:r>
            <a:r>
              <a:rPr sz="1400" dirty="0"/>
              <a:t> </a:t>
            </a:r>
            <a:r>
              <a:rPr sz="1400" dirty="0" err="1"/>
              <a:t>проверки</a:t>
            </a:r>
            <a:r>
              <a:rPr sz="1400" dirty="0"/>
              <a:t> </a:t>
            </a:r>
            <a:r>
              <a:rPr sz="1400" dirty="0" err="1"/>
              <a:t>формы</a:t>
            </a:r>
            <a:r>
              <a:rPr sz="1400" dirty="0"/>
              <a:t> </a:t>
            </a:r>
            <a:r>
              <a:rPr sz="1400" dirty="0" err="1"/>
              <a:t>записи</a:t>
            </a:r>
            <a:r>
              <a:rPr sz="1400" dirty="0"/>
              <a:t> </a:t>
            </a:r>
            <a:r>
              <a:rPr sz="1400" dirty="0" err="1"/>
              <a:t>на</a:t>
            </a:r>
            <a:r>
              <a:rPr sz="1400" dirty="0"/>
              <a:t> </a:t>
            </a:r>
            <a:r>
              <a:rPr sz="1400" dirty="0" err="1"/>
              <a:t>приём</a:t>
            </a:r>
            <a:r>
              <a:rPr sz="1400" dirty="0"/>
              <a:t> с </a:t>
            </a:r>
            <a:r>
              <a:rPr sz="1400" dirty="0" err="1"/>
              <a:t>валидными</a:t>
            </a:r>
            <a:r>
              <a:rPr sz="1400" dirty="0"/>
              <a:t>, </a:t>
            </a:r>
            <a:r>
              <a:rPr sz="1400" dirty="0" err="1"/>
              <a:t>невалидными</a:t>
            </a:r>
            <a:r>
              <a:rPr sz="1400" dirty="0"/>
              <a:t> и </a:t>
            </a:r>
            <a:r>
              <a:rPr sz="1400" dirty="0" err="1"/>
              <a:t>пустыми</a:t>
            </a:r>
            <a:r>
              <a:rPr sz="1400" dirty="0"/>
              <a:t> </a:t>
            </a:r>
            <a:r>
              <a:rPr sz="1400" dirty="0" err="1"/>
              <a:t>данными</a:t>
            </a:r>
            <a:r>
              <a:rPr sz="14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/>
              <a:t>В проекте применяются четыре вида тестирования.</a:t>
            </a:r>
          </a:p>
          <a:p>
            <a:endParaRPr sz="1400"/>
          </a:p>
          <a:p>
            <a:r>
              <a:rPr sz="1400"/>
              <a:t>Функциональное — проверяем корректность работы форм, кнопок и навигации. Интеграционное — проверяем взаимодействие компонентов, в частности успешную отправку формы. UI-тестирование — убеждаемся, что элементы интерфейса отображаются корректно. Регрессионное — автоматически перепроверяем всё после каждого обновления сайта.</a:t>
            </a:r>
          </a:p>
          <a:p>
            <a:endParaRPr sz="1400"/>
          </a:p>
          <a:p>
            <a:r>
              <a:rPr sz="1400"/>
              <a:t>Важно: все тесты выполняются по методу «чёрного ящика» — мы взаимодействуем только с интерфейсом, без доступа к исходному коду сайта.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/>
              <a:t>Почему автоматизация, а не ручное тестирование?</a:t>
            </a:r>
          </a:p>
          <a:p>
            <a:endParaRPr sz="1400"/>
          </a:p>
          <a:p>
            <a:r>
              <a:rPr sz="1400"/>
              <a:t>Ручное тестирование при каждом релизе занимает часы, подвержено человеческому фактору, плохо масштабируется и не позволяет охватить все граничные случаи форм.</a:t>
            </a:r>
          </a:p>
          <a:p>
            <a:endParaRPr sz="1400"/>
          </a:p>
          <a:p>
            <a:r>
              <a:rPr sz="1400"/>
              <a:t>Автоматизация решает все эти проблемы: повторный запуск тестов занимает секунды, результаты воспроизводимы, проверяются все наборы данных, а Allure-отчёты документируют каждый шаг.</a:t>
            </a:r>
          </a:p>
          <a:p>
            <a:endParaRPr sz="1400"/>
          </a:p>
          <a:p>
            <a:r>
              <a:rPr sz="1400"/>
              <a:t>Для медицинского сайта это особенно важно — ошибка в форме записи на приём напрямую влияет на пациентов.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/>
              <a:t>Для проекта выбран следующий стек технологий.</a:t>
            </a:r>
          </a:p>
          <a:p>
            <a:endParaRPr sz="1400"/>
          </a:p>
          <a:p>
            <a:r>
              <a:rPr sz="1400"/>
              <a:t>Python 3 — основной язык: читаемый, с богатой экосистемой QA-инструментов. PyTest — фреймворк для написания и запуска тестов: фикстуры, параметризация, параллельный запуск. Playwright — библиотека UI-автоматизации от Microsoft с автоматическим ожиданием элементов. Allure — система отчётности с визуальным дашбордом и историей прогонов. DevTools — для поиска стабильных селекторов и отладки падающих тестов.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/>
              <a:t>Почему Playwright, а не Selenium?</a:t>
            </a:r>
          </a:p>
          <a:p>
            <a:endParaRPr sz="1400"/>
          </a:p>
          <a:p>
            <a:r>
              <a:rPr sz="1400"/>
              <a:t>Я выбрала Playwright по трём ключевым причинам. Первая — auto-wait: библиотека сама ждёт элементы на странице, без явных sleep() и WebDriverWait. Вторая — встроенные браузеры: не нужно отдельно устанавливать ChromeDriver, всё идёт в одном пакете. Третья — современный API от Microsoft: чистый синтаксис, хорошая документация.</a:t>
            </a:r>
          </a:p>
          <a:p>
            <a:endParaRPr sz="1400"/>
          </a:p>
          <a:p>
            <a:r>
              <a:rPr sz="1400"/>
              <a:t>Результат: все 16 автотестов работают стабильно без лишних настроек.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/>
              <a:t>Для организации кода выбран паттерн Page Object Model — POM.</a:t>
            </a:r>
          </a:p>
          <a:p>
            <a:endParaRPr sz="1400"/>
          </a:p>
          <a:p>
            <a:r>
              <a:rPr sz="1400"/>
              <a:t>Архитектура состоит из четырёх уровней. Снизу вверх: Controls — атомарные элементы интерфейса: поля, кнопки, чекбоксы. Components — составные блоки: шапка, форма, карточка врача. Pages — страницы сайта с методами навигации. Tests — только тест-сценарии, без прямых локаторов.</a:t>
            </a:r>
          </a:p>
          <a:p>
            <a:endParaRPr sz="1400"/>
          </a:p>
          <a:p>
            <a:r>
              <a:rPr sz="1400"/>
              <a:t>Такая структура обеспечивает независимость тестов от вёрстки: при изменении локатора достаточно поправить один файл в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/>
              <a:t>В рамках работы разработано 16 тест-кейсов по 8 модулям сайта.</a:t>
            </a:r>
          </a:p>
          <a:p>
            <a:endParaRPr sz="1400"/>
          </a:p>
          <a:p>
            <a:r>
              <a:rPr sz="1400"/>
              <a:t>Ключевая особенность таблицы — колонка «Итог»: зелёным отмечены пройденные тесты, красным — те, которые выявили баги. Таких оказалось 4: TC-05 (пагинация), TC-12 (Prodoctorov), TC-14, TC-15 и TC-16 (форма записи).</a:t>
            </a:r>
          </a:p>
          <a:p>
            <a:endParaRPr sz="1400"/>
          </a:p>
          <a:p>
            <a:r>
              <a:rPr sz="1400"/>
              <a:t>Это реальные находки, которые подтверждают ценность автоматизированного тестирования.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/>
              <a:t>Все тесты интегрированы с системой отчётности Allure.</a:t>
            </a:r>
          </a:p>
          <a:p>
            <a:endParaRPr sz="1400"/>
          </a:p>
          <a:p>
            <a:r>
              <a:rPr sz="1400"/>
              <a:t>Allure предоставляет дашборд с общей статистикой, детали каждого теста с шагами, историю прогонов и группировку по Suite и Feature.</a:t>
            </a:r>
          </a:p>
          <a:p>
            <a:endParaRPr sz="1400"/>
          </a:p>
          <a:p>
            <a:r>
              <a:rPr sz="1400"/>
              <a:t>Запуск прост: команда pytest с флагом --alluredir сохраняет результаты, а allure serve генерирует интерактивный HTML-отчёт.</a:t>
            </a:r>
          </a:p>
          <a:p>
            <a:endParaRPr sz="1400"/>
          </a:p>
          <a:p>
            <a:r>
              <a:rPr sz="1400"/>
              <a:t>В тестах используются три декоратора: @allure.title для заголовка, @allure.description для описания и with allure.step для документирования каждого шага.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 dirty="0" err="1"/>
              <a:t>На</a:t>
            </a:r>
            <a:r>
              <a:rPr sz="1400" dirty="0"/>
              <a:t> </a:t>
            </a:r>
            <a:r>
              <a:rPr sz="1400" dirty="0" err="1"/>
              <a:t>слайде</a:t>
            </a:r>
            <a:r>
              <a:rPr sz="1400" dirty="0"/>
              <a:t> </a:t>
            </a:r>
            <a:r>
              <a:rPr sz="1400" dirty="0" err="1"/>
              <a:t>показана</a:t>
            </a:r>
            <a:r>
              <a:rPr sz="1400" dirty="0"/>
              <a:t> </a:t>
            </a:r>
            <a:r>
              <a:rPr sz="1400" dirty="0" err="1"/>
              <a:t>реальная</a:t>
            </a:r>
            <a:r>
              <a:rPr sz="1400" dirty="0"/>
              <a:t> </a:t>
            </a:r>
            <a:r>
              <a:rPr sz="1400" dirty="0" err="1"/>
              <a:t>структура</a:t>
            </a:r>
            <a:r>
              <a:rPr sz="1400" dirty="0"/>
              <a:t> </a:t>
            </a:r>
            <a:r>
              <a:rPr sz="1400" dirty="0" err="1"/>
              <a:t>файлов</a:t>
            </a:r>
            <a:r>
              <a:rPr sz="1400" dirty="0"/>
              <a:t> </a:t>
            </a:r>
            <a:r>
              <a:rPr sz="1400" dirty="0" err="1"/>
              <a:t>проекта</a:t>
            </a:r>
            <a:r>
              <a:rPr sz="1400" dirty="0"/>
              <a:t>.</a:t>
            </a:r>
          </a:p>
          <a:p>
            <a:endParaRPr sz="1400" dirty="0"/>
          </a:p>
          <a:p>
            <a:r>
              <a:rPr sz="1400" dirty="0"/>
              <a:t>В </a:t>
            </a:r>
            <a:r>
              <a:rPr sz="1400" dirty="0" err="1"/>
              <a:t>папке</a:t>
            </a:r>
            <a:r>
              <a:rPr sz="1400" dirty="0"/>
              <a:t> controls — </a:t>
            </a:r>
            <a:r>
              <a:rPr sz="1400" dirty="0" err="1"/>
              <a:t>атомарные</a:t>
            </a:r>
            <a:r>
              <a:rPr sz="1400" dirty="0"/>
              <a:t> </a:t>
            </a:r>
            <a:r>
              <a:rPr sz="1400" dirty="0" err="1"/>
              <a:t>элементы</a:t>
            </a:r>
            <a:r>
              <a:rPr sz="1400" dirty="0"/>
              <a:t>: </a:t>
            </a:r>
            <a:r>
              <a:rPr sz="1400" dirty="0" err="1"/>
              <a:t>InputForm</a:t>
            </a:r>
            <a:r>
              <a:rPr sz="1400" dirty="0"/>
              <a:t>, </a:t>
            </a:r>
            <a:r>
              <a:rPr sz="1400" dirty="0" err="1"/>
              <a:t>ButtonForm</a:t>
            </a:r>
            <a:r>
              <a:rPr sz="1400" dirty="0"/>
              <a:t>, Pagination. В components — </a:t>
            </a:r>
            <a:r>
              <a:rPr sz="1400" dirty="0" err="1"/>
              <a:t>составные</a:t>
            </a:r>
            <a:r>
              <a:rPr sz="1400" dirty="0"/>
              <a:t> </a:t>
            </a:r>
            <a:r>
              <a:rPr sz="1400" dirty="0" err="1"/>
              <a:t>блоки</a:t>
            </a:r>
            <a:r>
              <a:rPr sz="1400" dirty="0"/>
              <a:t>: Header, </a:t>
            </a:r>
            <a:r>
              <a:rPr sz="1400" dirty="0" err="1"/>
              <a:t>FormRecording</a:t>
            </a:r>
            <a:r>
              <a:rPr sz="1400" dirty="0"/>
              <a:t>, </a:t>
            </a:r>
            <a:r>
              <a:rPr sz="1400" dirty="0" err="1"/>
              <a:t>CartProfileDoctor</a:t>
            </a:r>
            <a:r>
              <a:rPr sz="1400" dirty="0"/>
              <a:t>. В pages — </a:t>
            </a:r>
            <a:r>
              <a:rPr sz="1400" dirty="0" err="1"/>
              <a:t>классы</a:t>
            </a:r>
            <a:r>
              <a:rPr sz="1400" dirty="0"/>
              <a:t> </a:t>
            </a:r>
            <a:r>
              <a:rPr sz="1400" dirty="0" err="1"/>
              <a:t>страниц</a:t>
            </a:r>
            <a:r>
              <a:rPr sz="1400" dirty="0"/>
              <a:t>, </a:t>
            </a:r>
            <a:r>
              <a:rPr sz="1400" dirty="0" err="1"/>
              <a:t>наследующие</a:t>
            </a:r>
            <a:r>
              <a:rPr sz="1400" dirty="0"/>
              <a:t> </a:t>
            </a:r>
            <a:r>
              <a:rPr sz="1400" dirty="0" err="1"/>
              <a:t>BasePage</a:t>
            </a:r>
            <a:r>
              <a:rPr sz="1400" dirty="0"/>
              <a:t>. В tests — 16 </a:t>
            </a:r>
            <a:r>
              <a:rPr sz="1400" dirty="0" err="1"/>
              <a:t>тест-файлов</a:t>
            </a:r>
            <a:r>
              <a:rPr sz="1400" dirty="0"/>
              <a:t>.</a:t>
            </a:r>
          </a:p>
          <a:p>
            <a:endParaRPr sz="1400" dirty="0"/>
          </a:p>
          <a:p>
            <a:r>
              <a:rPr sz="1400" dirty="0" err="1"/>
              <a:t>Заголовок</a:t>
            </a:r>
            <a:r>
              <a:rPr sz="1400" dirty="0"/>
              <a:t> «</a:t>
            </a:r>
            <a:r>
              <a:rPr sz="1400" dirty="0" err="1"/>
              <a:t>Назначение</a:t>
            </a:r>
            <a:r>
              <a:rPr sz="1400" dirty="0"/>
              <a:t> </a:t>
            </a:r>
            <a:r>
              <a:rPr sz="1400" dirty="0" err="1"/>
              <a:t>модулей</a:t>
            </a:r>
            <a:r>
              <a:rPr sz="1400" dirty="0"/>
              <a:t>» </a:t>
            </a:r>
            <a:r>
              <a:rPr sz="1400" dirty="0" err="1"/>
              <a:t>справа</a:t>
            </a:r>
            <a:r>
              <a:rPr sz="1400" dirty="0"/>
              <a:t> </a:t>
            </a:r>
            <a:r>
              <a:rPr sz="1400" dirty="0" err="1"/>
              <a:t>описывает</a:t>
            </a:r>
            <a:r>
              <a:rPr sz="1400" dirty="0"/>
              <a:t> </a:t>
            </a:r>
            <a:r>
              <a:rPr sz="1400" dirty="0" err="1"/>
              <a:t>роль</a:t>
            </a:r>
            <a:r>
              <a:rPr sz="1400" dirty="0"/>
              <a:t> </a:t>
            </a:r>
            <a:r>
              <a:rPr sz="1400" dirty="0" err="1"/>
              <a:t>каждого</a:t>
            </a:r>
            <a:r>
              <a:rPr sz="1400" dirty="0"/>
              <a:t> </a:t>
            </a:r>
            <a:r>
              <a:rPr sz="1400" dirty="0" err="1"/>
              <a:t>уровня</a:t>
            </a:r>
            <a:r>
              <a:rPr sz="1400" dirty="0"/>
              <a:t>. </a:t>
            </a:r>
            <a:r>
              <a:rPr sz="1400" dirty="0" err="1"/>
              <a:t>Особо</a:t>
            </a:r>
            <a:r>
              <a:rPr sz="1400" dirty="0"/>
              <a:t> </a:t>
            </a:r>
            <a:r>
              <a:rPr sz="1400" dirty="0" err="1"/>
              <a:t>хочу</a:t>
            </a:r>
            <a:r>
              <a:rPr sz="1400" dirty="0"/>
              <a:t> </a:t>
            </a:r>
            <a:r>
              <a:rPr sz="1400" dirty="0" err="1"/>
              <a:t>отметить</a:t>
            </a:r>
            <a:r>
              <a:rPr sz="1400" dirty="0"/>
              <a:t> conftest.py — </a:t>
            </a:r>
            <a:r>
              <a:rPr sz="1400" dirty="0" err="1"/>
              <a:t>он</a:t>
            </a:r>
            <a:r>
              <a:rPr sz="1400" dirty="0"/>
              <a:t> </a:t>
            </a:r>
            <a:r>
              <a:rPr sz="1400" dirty="0" err="1"/>
              <a:t>автоматически</a:t>
            </a:r>
            <a:r>
              <a:rPr sz="1400" dirty="0"/>
              <a:t> </a:t>
            </a:r>
            <a:r>
              <a:rPr sz="1400" dirty="0" err="1"/>
              <a:t>закрывает</a:t>
            </a:r>
            <a:r>
              <a:rPr sz="1400" dirty="0"/>
              <a:t> cookie-</a:t>
            </a:r>
            <a:r>
              <a:rPr sz="1400" dirty="0" err="1"/>
              <a:t>баннер</a:t>
            </a:r>
            <a:r>
              <a:rPr sz="1400" dirty="0"/>
              <a:t> </a:t>
            </a:r>
            <a:r>
              <a:rPr sz="1400" dirty="0" err="1"/>
              <a:t>при</a:t>
            </a:r>
            <a:r>
              <a:rPr sz="1400" dirty="0"/>
              <a:t> </a:t>
            </a:r>
            <a:r>
              <a:rPr sz="1400" dirty="0" err="1"/>
              <a:t>каждой</a:t>
            </a:r>
            <a:r>
              <a:rPr sz="1400" dirty="0"/>
              <a:t> </a:t>
            </a:r>
            <a:r>
              <a:rPr sz="1400" dirty="0" err="1"/>
              <a:t>навигации</a:t>
            </a:r>
            <a:r>
              <a:rPr sz="14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/>
              <a:t>На слайде — 4 ключевых итога работы.</a:t>
            </a:r>
          </a:p>
          <a:p>
            <a:endParaRPr sz="1400"/>
          </a:p>
          <a:p>
            <a:r>
              <a:rPr sz="1400"/>
              <a:t>16 тест-кейсов разработано, 16 автотестов реализовано, 4 уровня POM архитектуры, и главное — выявлено 4 бага в продакшн-сайте.</a:t>
            </a:r>
          </a:p>
          <a:p>
            <a:endParaRPr sz="1400"/>
          </a:p>
          <a:p>
            <a:r>
              <a:rPr sz="1400"/>
              <a:t>Буллеты детализируют: архитектура четырёх уровней, покрытие всех сценариев, форма записи проверена в 4 вариантах данных, найденные баги конкретны и воспроизводимы.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/>
              <a:t>В заключение.</a:t>
            </a:r>
          </a:p>
          <a:p>
            <a:endParaRPr sz="1400"/>
          </a:p>
          <a:p>
            <a:r>
              <a:rPr sz="1400"/>
              <a:t>Тестирование показало: 12 тестов прошли успешно, 4 выявили реальные проблемы на сайте. Кнопки пагинации без надписей затрудняют навигацию. Переход на Prodoctorov ведёт не туда — пациент не видит отзывы о враче. Форма записи принимает невалидные и неполные данные — менеджер не сможет связаться с пациентом.</a:t>
            </a:r>
          </a:p>
          <a:p>
            <a:endParaRPr sz="1400"/>
          </a:p>
          <a:p>
            <a:r>
              <a:rPr sz="1400"/>
              <a:t>Эти находки демонстрируют практическую ценность автоматизированного тестирования для медицинской клиники.</a:t>
            </a:r>
          </a:p>
          <a:p>
            <a:endParaRPr sz="1400"/>
          </a:p>
          <a:p>
            <a:r>
              <a:rPr sz="1400"/>
              <a:t>Спасибо за внимание! Готова ответить на ваши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9105" y="1901110"/>
            <a:ext cx="5203195" cy="131179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8214" y="3467895"/>
            <a:ext cx="4284984" cy="156395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55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910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365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82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276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73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18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64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549" y="3932550"/>
            <a:ext cx="5203195" cy="1215463"/>
          </a:xfrm>
        </p:spPr>
        <p:txBody>
          <a:bodyPr anchor="t"/>
          <a:lstStyle>
            <a:lvl1pPr algn="l">
              <a:defRPr sz="302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3549" y="2593839"/>
            <a:ext cx="5203195" cy="1338709"/>
          </a:xfrm>
        </p:spPr>
        <p:txBody>
          <a:bodyPr anchor="b"/>
          <a:lstStyle>
            <a:lvl1pPr marL="0" indent="0">
              <a:buNone/>
              <a:defRPr sz="1511">
                <a:solidFill>
                  <a:schemeClr val="tx1">
                    <a:tint val="75000"/>
                  </a:schemeClr>
                </a:solidFill>
              </a:defRPr>
            </a:lvl1pPr>
            <a:lvl2pPr marL="345529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2pPr>
            <a:lvl3pPr marL="691059" indent="0">
              <a:buNone/>
              <a:defRPr sz="1209">
                <a:solidFill>
                  <a:schemeClr val="tx1">
                    <a:tint val="75000"/>
                  </a:schemeClr>
                </a:solidFill>
              </a:defRPr>
            </a:lvl3pPr>
            <a:lvl4pPr marL="1036588" indent="0">
              <a:buNone/>
              <a:defRPr sz="1058">
                <a:solidFill>
                  <a:schemeClr val="tx1">
                    <a:tint val="75000"/>
                  </a:schemeClr>
                </a:solidFill>
              </a:defRPr>
            </a:lvl4pPr>
            <a:lvl5pPr marL="1382119" indent="0">
              <a:buNone/>
              <a:defRPr sz="1058">
                <a:solidFill>
                  <a:schemeClr val="tx1">
                    <a:tint val="75000"/>
                  </a:schemeClr>
                </a:solidFill>
              </a:defRPr>
            </a:lvl5pPr>
            <a:lvl6pPr marL="1727648" indent="0">
              <a:buNone/>
              <a:defRPr sz="1058">
                <a:solidFill>
                  <a:schemeClr val="tx1">
                    <a:tint val="75000"/>
                  </a:schemeClr>
                </a:solidFill>
              </a:defRPr>
            </a:lvl6pPr>
            <a:lvl7pPr marL="2073178" indent="0">
              <a:buNone/>
              <a:defRPr sz="1058">
                <a:solidFill>
                  <a:schemeClr val="tx1">
                    <a:tint val="75000"/>
                  </a:schemeClr>
                </a:solidFill>
              </a:defRPr>
            </a:lvl7pPr>
            <a:lvl8pPr marL="2418707" indent="0">
              <a:buNone/>
              <a:defRPr sz="1058">
                <a:solidFill>
                  <a:schemeClr val="tx1">
                    <a:tint val="75000"/>
                  </a:schemeClr>
                </a:solidFill>
              </a:defRPr>
            </a:lvl8pPr>
            <a:lvl9pPr marL="2764237" indent="0">
              <a:buNone/>
              <a:defRPr sz="105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6073" y="1427958"/>
            <a:ext cx="2703621" cy="4038794"/>
          </a:xfrm>
        </p:spPr>
        <p:txBody>
          <a:bodyPr/>
          <a:lstStyle>
            <a:lvl1pPr>
              <a:defRPr sz="2117"/>
            </a:lvl1pPr>
            <a:lvl2pPr>
              <a:defRPr sz="1813"/>
            </a:lvl2pPr>
            <a:lvl3pPr>
              <a:defRPr sz="1511"/>
            </a:lvl3pPr>
            <a:lvl4pPr>
              <a:defRPr sz="1360"/>
            </a:lvl4pPr>
            <a:lvl5pPr>
              <a:defRPr sz="1360"/>
            </a:lvl5pPr>
            <a:lvl6pPr>
              <a:defRPr sz="1360"/>
            </a:lvl6pPr>
            <a:lvl7pPr>
              <a:defRPr sz="1360"/>
            </a:lvl7pPr>
            <a:lvl8pPr>
              <a:defRPr sz="1360"/>
            </a:lvl8pPr>
            <a:lvl9pPr>
              <a:defRPr sz="13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11718" y="1427958"/>
            <a:ext cx="2703621" cy="4038794"/>
          </a:xfrm>
        </p:spPr>
        <p:txBody>
          <a:bodyPr/>
          <a:lstStyle>
            <a:lvl1pPr>
              <a:defRPr sz="2117"/>
            </a:lvl1pPr>
            <a:lvl2pPr>
              <a:defRPr sz="1813"/>
            </a:lvl2pPr>
            <a:lvl3pPr>
              <a:defRPr sz="1511"/>
            </a:lvl3pPr>
            <a:lvl4pPr>
              <a:defRPr sz="1360"/>
            </a:lvl4pPr>
            <a:lvl5pPr>
              <a:defRPr sz="1360"/>
            </a:lvl5pPr>
            <a:lvl6pPr>
              <a:defRPr sz="1360"/>
            </a:lvl6pPr>
            <a:lvl7pPr>
              <a:defRPr sz="1360"/>
            </a:lvl7pPr>
            <a:lvl8pPr>
              <a:defRPr sz="1360"/>
            </a:lvl8pPr>
            <a:lvl9pPr>
              <a:defRPr sz="13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6070" y="1369876"/>
            <a:ext cx="2704684" cy="570899"/>
          </a:xfrm>
        </p:spPr>
        <p:txBody>
          <a:bodyPr anchor="b"/>
          <a:lstStyle>
            <a:lvl1pPr marL="0" indent="0">
              <a:buNone/>
              <a:defRPr sz="1813" b="1"/>
            </a:lvl1pPr>
            <a:lvl2pPr marL="345529" indent="0">
              <a:buNone/>
              <a:defRPr sz="1511" b="1"/>
            </a:lvl2pPr>
            <a:lvl3pPr marL="691059" indent="0">
              <a:buNone/>
              <a:defRPr sz="1360" b="1"/>
            </a:lvl3pPr>
            <a:lvl4pPr marL="1036588" indent="0">
              <a:buNone/>
              <a:defRPr sz="1209" b="1"/>
            </a:lvl4pPr>
            <a:lvl5pPr marL="1382119" indent="0">
              <a:buNone/>
              <a:defRPr sz="1209" b="1"/>
            </a:lvl5pPr>
            <a:lvl6pPr marL="1727648" indent="0">
              <a:buNone/>
              <a:defRPr sz="1209" b="1"/>
            </a:lvl6pPr>
            <a:lvl7pPr marL="2073178" indent="0">
              <a:buNone/>
              <a:defRPr sz="1209" b="1"/>
            </a:lvl7pPr>
            <a:lvl8pPr marL="2418707" indent="0">
              <a:buNone/>
              <a:defRPr sz="1209" b="1"/>
            </a:lvl8pPr>
            <a:lvl9pPr marL="2764237" indent="0">
              <a:buNone/>
              <a:defRPr sz="120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6070" y="1940775"/>
            <a:ext cx="2704684" cy="3525976"/>
          </a:xfrm>
        </p:spPr>
        <p:txBody>
          <a:bodyPr/>
          <a:lstStyle>
            <a:lvl1pPr>
              <a:defRPr sz="1813"/>
            </a:lvl1pPr>
            <a:lvl2pPr>
              <a:defRPr sz="1511"/>
            </a:lvl2pPr>
            <a:lvl3pPr>
              <a:defRPr sz="1360"/>
            </a:lvl3pPr>
            <a:lvl4pPr>
              <a:defRPr sz="1209"/>
            </a:lvl4pPr>
            <a:lvl5pPr>
              <a:defRPr sz="1209"/>
            </a:lvl5pPr>
            <a:lvl6pPr>
              <a:defRPr sz="1209"/>
            </a:lvl6pPr>
            <a:lvl7pPr>
              <a:defRPr sz="1209"/>
            </a:lvl7pPr>
            <a:lvl8pPr>
              <a:defRPr sz="1209"/>
            </a:lvl8pPr>
            <a:lvl9pPr>
              <a:defRPr sz="12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09594" y="1369876"/>
            <a:ext cx="2705747" cy="570899"/>
          </a:xfrm>
        </p:spPr>
        <p:txBody>
          <a:bodyPr anchor="b"/>
          <a:lstStyle>
            <a:lvl1pPr marL="0" indent="0">
              <a:buNone/>
              <a:defRPr sz="1813" b="1"/>
            </a:lvl1pPr>
            <a:lvl2pPr marL="345529" indent="0">
              <a:buNone/>
              <a:defRPr sz="1511" b="1"/>
            </a:lvl2pPr>
            <a:lvl3pPr marL="691059" indent="0">
              <a:buNone/>
              <a:defRPr sz="1360" b="1"/>
            </a:lvl3pPr>
            <a:lvl4pPr marL="1036588" indent="0">
              <a:buNone/>
              <a:defRPr sz="1209" b="1"/>
            </a:lvl4pPr>
            <a:lvl5pPr marL="1382119" indent="0">
              <a:buNone/>
              <a:defRPr sz="1209" b="1"/>
            </a:lvl5pPr>
            <a:lvl6pPr marL="1727648" indent="0">
              <a:buNone/>
              <a:defRPr sz="1209" b="1"/>
            </a:lvl6pPr>
            <a:lvl7pPr marL="2073178" indent="0">
              <a:buNone/>
              <a:defRPr sz="1209" b="1"/>
            </a:lvl7pPr>
            <a:lvl8pPr marL="2418707" indent="0">
              <a:buNone/>
              <a:defRPr sz="1209" b="1"/>
            </a:lvl8pPr>
            <a:lvl9pPr marL="2764237" indent="0">
              <a:buNone/>
              <a:defRPr sz="120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109594" y="1940775"/>
            <a:ext cx="2705747" cy="3525976"/>
          </a:xfrm>
        </p:spPr>
        <p:txBody>
          <a:bodyPr/>
          <a:lstStyle>
            <a:lvl1pPr>
              <a:defRPr sz="1813"/>
            </a:lvl1pPr>
            <a:lvl2pPr>
              <a:defRPr sz="1511"/>
            </a:lvl2pPr>
            <a:lvl3pPr>
              <a:defRPr sz="1360"/>
            </a:lvl3pPr>
            <a:lvl4pPr>
              <a:defRPr sz="1209"/>
            </a:lvl4pPr>
            <a:lvl5pPr>
              <a:defRPr sz="1209"/>
            </a:lvl5pPr>
            <a:lvl6pPr>
              <a:defRPr sz="1209"/>
            </a:lvl6pPr>
            <a:lvl7pPr>
              <a:defRPr sz="1209"/>
            </a:lvl7pPr>
            <a:lvl8pPr>
              <a:defRPr sz="1209"/>
            </a:lvl8pPr>
            <a:lvl9pPr>
              <a:defRPr sz="12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073" y="243660"/>
            <a:ext cx="2013900" cy="1036969"/>
          </a:xfrm>
        </p:spPr>
        <p:txBody>
          <a:bodyPr anchor="b"/>
          <a:lstStyle>
            <a:lvl1pPr algn="l">
              <a:defRPr sz="151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3301" y="243662"/>
            <a:ext cx="3422036" cy="5223091"/>
          </a:xfrm>
        </p:spPr>
        <p:txBody>
          <a:bodyPr/>
          <a:lstStyle>
            <a:lvl1pPr>
              <a:defRPr sz="2419"/>
            </a:lvl1pPr>
            <a:lvl2pPr>
              <a:defRPr sz="2117"/>
            </a:lvl2pPr>
            <a:lvl3pPr>
              <a:defRPr sz="1813"/>
            </a:lvl3pPr>
            <a:lvl4pPr>
              <a:defRPr sz="1511"/>
            </a:lvl4pPr>
            <a:lvl5pPr>
              <a:defRPr sz="1511"/>
            </a:lvl5pPr>
            <a:lvl6pPr>
              <a:defRPr sz="1511"/>
            </a:lvl6pPr>
            <a:lvl7pPr>
              <a:defRPr sz="1511"/>
            </a:lvl7pPr>
            <a:lvl8pPr>
              <a:defRPr sz="1511"/>
            </a:lvl8pPr>
            <a:lvl9pPr>
              <a:defRPr sz="15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073" y="1280630"/>
            <a:ext cx="2013900" cy="4186122"/>
          </a:xfrm>
        </p:spPr>
        <p:txBody>
          <a:bodyPr/>
          <a:lstStyle>
            <a:lvl1pPr marL="0" indent="0">
              <a:buNone/>
              <a:defRPr sz="1058"/>
            </a:lvl1pPr>
            <a:lvl2pPr marL="345529" indent="0">
              <a:buNone/>
              <a:defRPr sz="907"/>
            </a:lvl2pPr>
            <a:lvl3pPr marL="691059" indent="0">
              <a:buNone/>
              <a:defRPr sz="756"/>
            </a:lvl3pPr>
            <a:lvl4pPr marL="1036588" indent="0">
              <a:buNone/>
              <a:defRPr sz="680"/>
            </a:lvl4pPr>
            <a:lvl5pPr marL="1382119" indent="0">
              <a:buNone/>
              <a:defRPr sz="680"/>
            </a:lvl5pPr>
            <a:lvl6pPr marL="1727648" indent="0">
              <a:buNone/>
              <a:defRPr sz="680"/>
            </a:lvl6pPr>
            <a:lvl7pPr marL="2073178" indent="0">
              <a:buNone/>
              <a:defRPr sz="680"/>
            </a:lvl7pPr>
            <a:lvl8pPr marL="2418707" indent="0">
              <a:buNone/>
              <a:defRPr sz="680"/>
            </a:lvl8pPr>
            <a:lvl9pPr marL="2764237" indent="0">
              <a:buNone/>
              <a:defRPr sz="6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9841" y="4283870"/>
            <a:ext cx="3672844" cy="505735"/>
          </a:xfrm>
        </p:spPr>
        <p:txBody>
          <a:bodyPr anchor="b"/>
          <a:lstStyle>
            <a:lvl1pPr algn="l">
              <a:defRPr sz="151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9841" y="546817"/>
            <a:ext cx="3672844" cy="3671888"/>
          </a:xfrm>
        </p:spPr>
        <p:txBody>
          <a:bodyPr/>
          <a:lstStyle>
            <a:lvl1pPr marL="0" indent="0">
              <a:buNone/>
              <a:defRPr sz="2419"/>
            </a:lvl1pPr>
            <a:lvl2pPr marL="345529" indent="0">
              <a:buNone/>
              <a:defRPr sz="2117"/>
            </a:lvl2pPr>
            <a:lvl3pPr marL="691059" indent="0">
              <a:buNone/>
              <a:defRPr sz="1813"/>
            </a:lvl3pPr>
            <a:lvl4pPr marL="1036588" indent="0">
              <a:buNone/>
              <a:defRPr sz="1511"/>
            </a:lvl4pPr>
            <a:lvl5pPr marL="1382119" indent="0">
              <a:buNone/>
              <a:defRPr sz="1511"/>
            </a:lvl5pPr>
            <a:lvl6pPr marL="1727648" indent="0">
              <a:buNone/>
              <a:defRPr sz="1511"/>
            </a:lvl6pPr>
            <a:lvl7pPr marL="2073178" indent="0">
              <a:buNone/>
              <a:defRPr sz="1511"/>
            </a:lvl7pPr>
            <a:lvl8pPr marL="2418707" indent="0">
              <a:buNone/>
              <a:defRPr sz="1511"/>
            </a:lvl8pPr>
            <a:lvl9pPr marL="2764237" indent="0">
              <a:buNone/>
              <a:defRPr sz="1511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9841" y="4789603"/>
            <a:ext cx="3672844" cy="718228"/>
          </a:xfrm>
        </p:spPr>
        <p:txBody>
          <a:bodyPr/>
          <a:lstStyle>
            <a:lvl1pPr marL="0" indent="0">
              <a:buNone/>
              <a:defRPr sz="1058"/>
            </a:lvl1pPr>
            <a:lvl2pPr marL="345529" indent="0">
              <a:buNone/>
              <a:defRPr sz="907"/>
            </a:lvl2pPr>
            <a:lvl3pPr marL="691059" indent="0">
              <a:buNone/>
              <a:defRPr sz="756"/>
            </a:lvl3pPr>
            <a:lvl4pPr marL="1036588" indent="0">
              <a:buNone/>
              <a:defRPr sz="680"/>
            </a:lvl4pPr>
            <a:lvl5pPr marL="1382119" indent="0">
              <a:buNone/>
              <a:defRPr sz="680"/>
            </a:lvl5pPr>
            <a:lvl6pPr marL="1727648" indent="0">
              <a:buNone/>
              <a:defRPr sz="680"/>
            </a:lvl6pPr>
            <a:lvl7pPr marL="2073178" indent="0">
              <a:buNone/>
              <a:defRPr sz="680"/>
            </a:lvl7pPr>
            <a:lvl8pPr marL="2418707" indent="0">
              <a:buNone/>
              <a:defRPr sz="680"/>
            </a:lvl8pPr>
            <a:lvl9pPr marL="2764237" indent="0">
              <a:buNone/>
              <a:defRPr sz="6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38020" y="245080"/>
            <a:ext cx="1377316" cy="52216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6072" y="245080"/>
            <a:ext cx="4029926" cy="52216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6070" y="245078"/>
            <a:ext cx="5509266" cy="10199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6070" y="1427958"/>
            <a:ext cx="5509266" cy="40387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6073" y="5672164"/>
            <a:ext cx="1428329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91483" y="5672164"/>
            <a:ext cx="193844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87010" y="5672164"/>
            <a:ext cx="1428329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5529" rtl="0" eaLnBrk="1" latinLnBrk="0" hangingPunct="1">
        <a:spcBef>
          <a:spcPct val="0"/>
        </a:spcBef>
        <a:buNone/>
        <a:defRPr sz="33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9148" indent="-259148" algn="l" defTabSz="345529" rtl="0" eaLnBrk="1" latinLnBrk="0" hangingPunct="1">
        <a:spcBef>
          <a:spcPct val="20000"/>
        </a:spcBef>
        <a:buFont typeface="Arial"/>
        <a:buChar char="•"/>
        <a:defRPr sz="2419" kern="1200">
          <a:solidFill>
            <a:schemeClr val="tx1"/>
          </a:solidFill>
          <a:latin typeface="+mn-lt"/>
          <a:ea typeface="+mn-ea"/>
          <a:cs typeface="+mn-cs"/>
        </a:defRPr>
      </a:lvl1pPr>
      <a:lvl2pPr marL="561485" indent="-215956" algn="l" defTabSz="345529" rtl="0" eaLnBrk="1" latinLnBrk="0" hangingPunct="1">
        <a:spcBef>
          <a:spcPct val="20000"/>
        </a:spcBef>
        <a:buFont typeface="Arial"/>
        <a:buChar char="–"/>
        <a:defRPr sz="2117" kern="1200">
          <a:solidFill>
            <a:schemeClr val="tx1"/>
          </a:solidFill>
          <a:latin typeface="+mn-lt"/>
          <a:ea typeface="+mn-ea"/>
          <a:cs typeface="+mn-cs"/>
        </a:defRPr>
      </a:lvl2pPr>
      <a:lvl3pPr marL="863824" indent="-172765" algn="l" defTabSz="345529" rtl="0" eaLnBrk="1" latinLnBrk="0" hangingPunct="1">
        <a:spcBef>
          <a:spcPct val="20000"/>
        </a:spcBef>
        <a:buFont typeface="Arial"/>
        <a:buChar char="•"/>
        <a:defRPr sz="1813" kern="1200">
          <a:solidFill>
            <a:schemeClr val="tx1"/>
          </a:solidFill>
          <a:latin typeface="+mn-lt"/>
          <a:ea typeface="+mn-ea"/>
          <a:cs typeface="+mn-cs"/>
        </a:defRPr>
      </a:lvl3pPr>
      <a:lvl4pPr marL="1209353" indent="-172765" algn="l" defTabSz="345529" rtl="0" eaLnBrk="1" latinLnBrk="0" hangingPunct="1">
        <a:spcBef>
          <a:spcPct val="20000"/>
        </a:spcBef>
        <a:buFont typeface="Arial"/>
        <a:buChar char="–"/>
        <a:defRPr sz="1511" kern="1200">
          <a:solidFill>
            <a:schemeClr val="tx1"/>
          </a:solidFill>
          <a:latin typeface="+mn-lt"/>
          <a:ea typeface="+mn-ea"/>
          <a:cs typeface="+mn-cs"/>
        </a:defRPr>
      </a:lvl4pPr>
      <a:lvl5pPr marL="1554883" indent="-172765" algn="l" defTabSz="345529" rtl="0" eaLnBrk="1" latinLnBrk="0" hangingPunct="1">
        <a:spcBef>
          <a:spcPct val="20000"/>
        </a:spcBef>
        <a:buFont typeface="Arial"/>
        <a:buChar char="»"/>
        <a:defRPr sz="1511" kern="1200">
          <a:solidFill>
            <a:schemeClr val="tx1"/>
          </a:solidFill>
          <a:latin typeface="+mn-lt"/>
          <a:ea typeface="+mn-ea"/>
          <a:cs typeface="+mn-cs"/>
        </a:defRPr>
      </a:lvl5pPr>
      <a:lvl6pPr marL="1900413" indent="-172765" algn="l" defTabSz="345529" rtl="0" eaLnBrk="1" latinLnBrk="0" hangingPunct="1">
        <a:spcBef>
          <a:spcPct val="20000"/>
        </a:spcBef>
        <a:buFont typeface="Arial"/>
        <a:buChar char="•"/>
        <a:defRPr sz="1511" kern="1200">
          <a:solidFill>
            <a:schemeClr val="tx1"/>
          </a:solidFill>
          <a:latin typeface="+mn-lt"/>
          <a:ea typeface="+mn-ea"/>
          <a:cs typeface="+mn-cs"/>
        </a:defRPr>
      </a:lvl6pPr>
      <a:lvl7pPr marL="2245942" indent="-172765" algn="l" defTabSz="345529" rtl="0" eaLnBrk="1" latinLnBrk="0" hangingPunct="1">
        <a:spcBef>
          <a:spcPct val="20000"/>
        </a:spcBef>
        <a:buFont typeface="Arial"/>
        <a:buChar char="•"/>
        <a:defRPr sz="1511" kern="1200">
          <a:solidFill>
            <a:schemeClr val="tx1"/>
          </a:solidFill>
          <a:latin typeface="+mn-lt"/>
          <a:ea typeface="+mn-ea"/>
          <a:cs typeface="+mn-cs"/>
        </a:defRPr>
      </a:lvl7pPr>
      <a:lvl8pPr marL="2591472" indent="-172765" algn="l" defTabSz="345529" rtl="0" eaLnBrk="1" latinLnBrk="0" hangingPunct="1">
        <a:spcBef>
          <a:spcPct val="20000"/>
        </a:spcBef>
        <a:buFont typeface="Arial"/>
        <a:buChar char="•"/>
        <a:defRPr sz="1511" kern="1200">
          <a:solidFill>
            <a:schemeClr val="tx1"/>
          </a:solidFill>
          <a:latin typeface="+mn-lt"/>
          <a:ea typeface="+mn-ea"/>
          <a:cs typeface="+mn-cs"/>
        </a:defRPr>
      </a:lvl8pPr>
      <a:lvl9pPr marL="2937001" indent="-172765" algn="l" defTabSz="345529" rtl="0" eaLnBrk="1" latinLnBrk="0" hangingPunct="1">
        <a:spcBef>
          <a:spcPct val="20000"/>
        </a:spcBef>
        <a:buFont typeface="Arial"/>
        <a:buChar char="•"/>
        <a:defRPr sz="15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5529" rtl="0" eaLnBrk="1" latinLnBrk="0" hangingPunct="1">
        <a:defRPr sz="1360" kern="1200">
          <a:solidFill>
            <a:schemeClr val="tx1"/>
          </a:solidFill>
          <a:latin typeface="+mn-lt"/>
          <a:ea typeface="+mn-ea"/>
          <a:cs typeface="+mn-cs"/>
        </a:defRPr>
      </a:lvl1pPr>
      <a:lvl2pPr marL="345529" algn="l" defTabSz="345529" rtl="0" eaLnBrk="1" latinLnBrk="0" hangingPunct="1">
        <a:defRPr sz="1360" kern="1200">
          <a:solidFill>
            <a:schemeClr val="tx1"/>
          </a:solidFill>
          <a:latin typeface="+mn-lt"/>
          <a:ea typeface="+mn-ea"/>
          <a:cs typeface="+mn-cs"/>
        </a:defRPr>
      </a:lvl2pPr>
      <a:lvl3pPr marL="691059" algn="l" defTabSz="345529" rtl="0" eaLnBrk="1" latinLnBrk="0" hangingPunct="1">
        <a:defRPr sz="1360" kern="1200">
          <a:solidFill>
            <a:schemeClr val="tx1"/>
          </a:solidFill>
          <a:latin typeface="+mn-lt"/>
          <a:ea typeface="+mn-ea"/>
          <a:cs typeface="+mn-cs"/>
        </a:defRPr>
      </a:lvl3pPr>
      <a:lvl4pPr marL="1036588" algn="l" defTabSz="345529" rtl="0" eaLnBrk="1" latinLnBrk="0" hangingPunct="1">
        <a:defRPr sz="1360" kern="1200">
          <a:solidFill>
            <a:schemeClr val="tx1"/>
          </a:solidFill>
          <a:latin typeface="+mn-lt"/>
          <a:ea typeface="+mn-ea"/>
          <a:cs typeface="+mn-cs"/>
        </a:defRPr>
      </a:lvl4pPr>
      <a:lvl5pPr marL="1382119" algn="l" defTabSz="345529" rtl="0" eaLnBrk="1" latinLnBrk="0" hangingPunct="1">
        <a:defRPr sz="1360" kern="1200">
          <a:solidFill>
            <a:schemeClr val="tx1"/>
          </a:solidFill>
          <a:latin typeface="+mn-lt"/>
          <a:ea typeface="+mn-ea"/>
          <a:cs typeface="+mn-cs"/>
        </a:defRPr>
      </a:lvl5pPr>
      <a:lvl6pPr marL="1727648" algn="l" defTabSz="345529" rtl="0" eaLnBrk="1" latinLnBrk="0" hangingPunct="1">
        <a:defRPr sz="1360" kern="1200">
          <a:solidFill>
            <a:schemeClr val="tx1"/>
          </a:solidFill>
          <a:latin typeface="+mn-lt"/>
          <a:ea typeface="+mn-ea"/>
          <a:cs typeface="+mn-cs"/>
        </a:defRPr>
      </a:lvl6pPr>
      <a:lvl7pPr marL="2073178" algn="l" defTabSz="345529" rtl="0" eaLnBrk="1" latinLnBrk="0" hangingPunct="1">
        <a:defRPr sz="1360" kern="1200">
          <a:solidFill>
            <a:schemeClr val="tx1"/>
          </a:solidFill>
          <a:latin typeface="+mn-lt"/>
          <a:ea typeface="+mn-ea"/>
          <a:cs typeface="+mn-cs"/>
        </a:defRPr>
      </a:lvl7pPr>
      <a:lvl8pPr marL="2418707" algn="l" defTabSz="345529" rtl="0" eaLnBrk="1" latinLnBrk="0" hangingPunct="1">
        <a:defRPr sz="1360" kern="1200">
          <a:solidFill>
            <a:schemeClr val="tx1"/>
          </a:solidFill>
          <a:latin typeface="+mn-lt"/>
          <a:ea typeface="+mn-ea"/>
          <a:cs typeface="+mn-cs"/>
        </a:defRPr>
      </a:lvl8pPr>
      <a:lvl9pPr marL="2764237" algn="l" defTabSz="345529" rtl="0" eaLnBrk="1" latinLnBrk="0" hangingPunct="1">
        <a:defRPr sz="13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1679" y="-63707"/>
            <a:ext cx="8171430" cy="5183159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3" name="Rectangle 2"/>
          <p:cNvSpPr/>
          <p:nvPr/>
        </p:nvSpPr>
        <p:spPr>
          <a:xfrm>
            <a:off x="-11681" y="5031167"/>
            <a:ext cx="8171431" cy="70435"/>
          </a:xfrm>
          <a:prstGeom prst="rect">
            <a:avLst/>
          </a:prstGeom>
          <a:solidFill>
            <a:srgbClr val="009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4" name="Rectangle 3"/>
          <p:cNvSpPr/>
          <p:nvPr/>
        </p:nvSpPr>
        <p:spPr>
          <a:xfrm>
            <a:off x="-11680" y="5119027"/>
            <a:ext cx="8171431" cy="1095614"/>
          </a:xfrm>
          <a:prstGeom prst="rect">
            <a:avLst/>
          </a:prstGeom>
          <a:solidFill>
            <a:srgbClr val="08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5" name="Rectangle 4"/>
          <p:cNvSpPr/>
          <p:nvPr/>
        </p:nvSpPr>
        <p:spPr>
          <a:xfrm>
            <a:off x="224285" y="205759"/>
            <a:ext cx="3476858" cy="587525"/>
          </a:xfrm>
          <a:prstGeom prst="rect">
            <a:avLst/>
          </a:prstGeom>
          <a:solidFill>
            <a:srgbClr val="009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6" name="TextBox 5"/>
          <p:cNvSpPr txBox="1"/>
          <p:nvPr/>
        </p:nvSpPr>
        <p:spPr>
          <a:xfrm>
            <a:off x="590913" y="221819"/>
            <a:ext cx="31102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АКАДЕМИЯ ТОП 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7306" y="860890"/>
            <a:ext cx="560568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 err="1">
                <a:solidFill>
                  <a:srgbClr val="FFFFFF"/>
                </a:solidFill>
              </a:rPr>
              <a:t>Проектирование</a:t>
            </a:r>
            <a:r>
              <a:rPr sz="3200" b="1" dirty="0">
                <a:solidFill>
                  <a:srgbClr val="FFFFFF"/>
                </a:solidFill>
              </a:rPr>
              <a:t> и </a:t>
            </a:r>
            <a:r>
              <a:rPr sz="3200" b="1" dirty="0" err="1">
                <a:solidFill>
                  <a:srgbClr val="FFFFFF"/>
                </a:solidFill>
              </a:rPr>
              <a:t>реализация</a:t>
            </a:r>
            <a:r>
              <a:rPr sz="3200" b="1" dirty="0">
                <a:solidFill>
                  <a:srgbClr val="FFFFFF"/>
                </a:solidFill>
              </a:rPr>
              <a:t>
</a:t>
            </a:r>
            <a:r>
              <a:rPr sz="3200" b="1" dirty="0" err="1">
                <a:solidFill>
                  <a:srgbClr val="FFFFFF"/>
                </a:solidFill>
              </a:rPr>
              <a:t>системы</a:t>
            </a:r>
            <a:r>
              <a:rPr sz="3200" b="1" dirty="0">
                <a:solidFill>
                  <a:srgbClr val="FFFFFF"/>
                </a:solidFill>
              </a:rPr>
              <a:t> </a:t>
            </a:r>
            <a:r>
              <a:rPr sz="3200" b="1" dirty="0" err="1">
                <a:solidFill>
                  <a:srgbClr val="FFFFFF"/>
                </a:solidFill>
              </a:rPr>
              <a:t>автоматизированного</a:t>
            </a:r>
            <a:r>
              <a:rPr sz="3200" b="1" dirty="0">
                <a:solidFill>
                  <a:srgbClr val="FFFFFF"/>
                </a:solidFill>
              </a:rPr>
              <a:t> </a:t>
            </a:r>
            <a:r>
              <a:rPr sz="3200" b="1" dirty="0" err="1">
                <a:solidFill>
                  <a:srgbClr val="FFFFFF"/>
                </a:solidFill>
              </a:rPr>
              <a:t>тестирования</a:t>
            </a:r>
            <a:r>
              <a:rPr sz="3200" b="1" dirty="0">
                <a:solidFill>
                  <a:srgbClr val="FFFFFF"/>
                </a:solidFill>
              </a:rPr>
              <a:t>
</a:t>
            </a:r>
            <a:r>
              <a:rPr sz="3200" b="1" dirty="0" err="1">
                <a:solidFill>
                  <a:srgbClr val="FFFFFF"/>
                </a:solidFill>
              </a:rPr>
              <a:t>веб-интерфейса</a:t>
            </a:r>
            <a:r>
              <a:rPr sz="3200" b="1" dirty="0">
                <a:solidFill>
                  <a:srgbClr val="FFFFFF"/>
                </a:solidFill>
              </a:rPr>
              <a:t> </a:t>
            </a:r>
            <a:r>
              <a:rPr sz="3200" b="1" dirty="0" err="1">
                <a:solidFill>
                  <a:srgbClr val="FFFFFF"/>
                </a:solidFill>
              </a:rPr>
              <a:t>медицинского</a:t>
            </a:r>
            <a:r>
              <a:rPr sz="3200" b="1" dirty="0">
                <a:solidFill>
                  <a:srgbClr val="FFFFFF"/>
                </a:solidFill>
              </a:rPr>
              <a:t> </a:t>
            </a:r>
            <a:r>
              <a:rPr sz="3200" b="1" dirty="0" err="1">
                <a:solidFill>
                  <a:srgbClr val="FFFFFF"/>
                </a:solidFill>
              </a:rPr>
              <a:t>сайта</a:t>
            </a:r>
            <a:r>
              <a:rPr sz="3200" b="1" dirty="0">
                <a:solidFill>
                  <a:srgbClr val="FFFFFF"/>
                </a:solidFill>
              </a:rPr>
              <a:t> «</a:t>
            </a:r>
            <a:r>
              <a:rPr sz="3200" b="1" dirty="0" err="1">
                <a:solidFill>
                  <a:srgbClr val="FFFFFF"/>
                </a:solidFill>
              </a:rPr>
              <a:t>Alimma</a:t>
            </a:r>
            <a:r>
              <a:rPr sz="3200" b="1" dirty="0">
                <a:solidFill>
                  <a:srgbClr val="FFFFFF"/>
                </a:solidFill>
              </a:rPr>
              <a:t>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284" y="4992003"/>
            <a:ext cx="63384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 err="1">
                <a:solidFill>
                  <a:srgbClr val="009BD8"/>
                </a:solidFill>
              </a:rPr>
              <a:t>Дипломная</a:t>
            </a:r>
            <a:r>
              <a:rPr dirty="0">
                <a:solidFill>
                  <a:srgbClr val="009BD8"/>
                </a:solidFill>
              </a:rPr>
              <a:t> </a:t>
            </a:r>
            <a:r>
              <a:rPr dirty="0" err="1">
                <a:solidFill>
                  <a:srgbClr val="009BD8"/>
                </a:solidFill>
              </a:rPr>
              <a:t>работа</a:t>
            </a:r>
            <a:r>
              <a:rPr dirty="0">
                <a:solidFill>
                  <a:srgbClr val="009BD8"/>
                </a:solidFill>
              </a:rPr>
              <a:t> </a:t>
            </a:r>
            <a:r>
              <a:rPr dirty="0" err="1">
                <a:solidFill>
                  <a:srgbClr val="009BD8"/>
                </a:solidFill>
              </a:rPr>
              <a:t>по</a:t>
            </a:r>
            <a:r>
              <a:rPr dirty="0">
                <a:solidFill>
                  <a:srgbClr val="009BD8"/>
                </a:solidFill>
              </a:rPr>
              <a:t> </a:t>
            </a:r>
            <a:r>
              <a:rPr dirty="0" err="1">
                <a:solidFill>
                  <a:srgbClr val="009BD8"/>
                </a:solidFill>
              </a:rPr>
              <a:t>курсу</a:t>
            </a:r>
            <a:r>
              <a:rPr dirty="0">
                <a:solidFill>
                  <a:srgbClr val="009BD8"/>
                </a:solidFill>
              </a:rPr>
              <a:t> «</a:t>
            </a:r>
            <a:r>
              <a:rPr dirty="0" err="1">
                <a:solidFill>
                  <a:srgbClr val="009BD8"/>
                </a:solidFill>
              </a:rPr>
              <a:t>Тестирование</a:t>
            </a:r>
            <a:r>
              <a:rPr dirty="0">
                <a:solidFill>
                  <a:srgbClr val="009BD8"/>
                </a:solidFill>
              </a:rPr>
              <a:t> </a:t>
            </a:r>
            <a:r>
              <a:rPr sz="2800" dirty="0">
                <a:solidFill>
                  <a:srgbClr val="009BD8"/>
                </a:solidFill>
              </a:rPr>
              <a:t>ПО</a:t>
            </a:r>
            <a:r>
              <a:rPr dirty="0">
                <a:solidFill>
                  <a:srgbClr val="009BD8"/>
                </a:solidFill>
              </a:rPr>
              <a:t>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284" y="5469926"/>
            <a:ext cx="27643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 err="1">
                <a:solidFill>
                  <a:srgbClr val="AACCFF"/>
                </a:solidFill>
              </a:rPr>
              <a:t>Выполнила</a:t>
            </a:r>
            <a:r>
              <a:rPr sz="907" dirty="0">
                <a:solidFill>
                  <a:srgbClr val="AACCFF"/>
                </a:solidFill>
              </a:rPr>
              <a:t>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285" y="5746925"/>
            <a:ext cx="55287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</a:rPr>
              <a:t>Шавалеева Анастасия </a:t>
            </a:r>
            <a:r>
              <a:rPr sz="2000" b="1" dirty="0" err="1">
                <a:solidFill>
                  <a:srgbClr val="FFFFFF"/>
                </a:solidFill>
              </a:rPr>
              <a:t>Александровна</a:t>
            </a:r>
            <a:endParaRPr sz="2000" b="1" dirty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77940" y="5466312"/>
            <a:ext cx="14086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dirty="0" err="1">
                <a:solidFill>
                  <a:srgbClr val="009BD8"/>
                </a:solidFill>
              </a:rPr>
              <a:t>Уфа</a:t>
            </a:r>
            <a:r>
              <a:rPr sz="2000" dirty="0">
                <a:solidFill>
                  <a:srgbClr val="009BD8"/>
                </a:solidFill>
              </a:rPr>
              <a:t>, 2026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67D220B-C6DF-BCFF-9AE7-FC151C5921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57926" y="541100"/>
            <a:ext cx="3040028" cy="38460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468327"/>
            <a:ext cx="8159751" cy="565148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3" name="Rectangle 2"/>
          <p:cNvSpPr/>
          <p:nvPr/>
        </p:nvSpPr>
        <p:spPr>
          <a:xfrm>
            <a:off x="0" y="-3979"/>
            <a:ext cx="8159751" cy="97528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4" name="TextBox 3"/>
          <p:cNvSpPr txBox="1"/>
          <p:nvPr/>
        </p:nvSpPr>
        <p:spPr>
          <a:xfrm>
            <a:off x="195403" y="175939"/>
            <a:ext cx="76812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 err="1">
                <a:solidFill>
                  <a:srgbClr val="FFFFFF"/>
                </a:solidFill>
              </a:rPr>
              <a:t>Цель</a:t>
            </a:r>
            <a:r>
              <a:rPr sz="3200" b="1" dirty="0">
                <a:solidFill>
                  <a:srgbClr val="FFFFFF"/>
                </a:solidFill>
              </a:rPr>
              <a:t> </a:t>
            </a:r>
            <a:r>
              <a:rPr sz="3200" b="1" dirty="0" err="1">
                <a:solidFill>
                  <a:srgbClr val="FFFFFF"/>
                </a:solidFill>
              </a:rPr>
              <a:t>дипломной</a:t>
            </a:r>
            <a:r>
              <a:rPr sz="3200" b="1" dirty="0">
                <a:solidFill>
                  <a:srgbClr val="FFFFFF"/>
                </a:solidFill>
              </a:rPr>
              <a:t> </a:t>
            </a:r>
            <a:r>
              <a:rPr sz="3200" b="1" dirty="0" err="1">
                <a:solidFill>
                  <a:srgbClr val="FFFFFF"/>
                </a:solidFill>
              </a:rPr>
              <a:t>работы</a:t>
            </a:r>
            <a:endParaRPr sz="3200" b="1" dirty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-6649" y="5877932"/>
            <a:ext cx="8166400" cy="241881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8" name="TextBox 7"/>
          <p:cNvSpPr txBox="1"/>
          <p:nvPr/>
        </p:nvSpPr>
        <p:spPr>
          <a:xfrm>
            <a:off x="7876665" y="5843396"/>
            <a:ext cx="2764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dirty="0">
                <a:solidFill>
                  <a:srgbClr val="009BD8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85" y="1248340"/>
            <a:ext cx="802153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1" dirty="0" err="1">
                <a:solidFill>
                  <a:srgbClr val="0D2B55"/>
                </a:solidFill>
              </a:rPr>
              <a:t>Разработка</a:t>
            </a:r>
            <a:endParaRPr lang="ru-RU" sz="3500" b="1" dirty="0">
              <a:solidFill>
                <a:srgbClr val="0D2B55"/>
              </a:solidFill>
            </a:endParaRPr>
          </a:p>
          <a:p>
            <a:pPr algn="l"/>
            <a:r>
              <a:rPr sz="3500" b="1" dirty="0" err="1">
                <a:solidFill>
                  <a:srgbClr val="0D2B55"/>
                </a:solidFill>
              </a:rPr>
              <a:t>автоматизированных</a:t>
            </a:r>
            <a:endParaRPr lang="ru-RU" sz="3500" b="1" dirty="0">
              <a:solidFill>
                <a:srgbClr val="0D2B55"/>
              </a:solidFill>
            </a:endParaRPr>
          </a:p>
          <a:p>
            <a:pPr algn="l"/>
            <a:r>
              <a:rPr sz="3500" b="1" dirty="0" err="1">
                <a:solidFill>
                  <a:srgbClr val="0D2B55"/>
                </a:solidFill>
              </a:rPr>
              <a:t>тестов</a:t>
            </a:r>
            <a:r>
              <a:rPr sz="3500" b="1" dirty="0">
                <a:solidFill>
                  <a:srgbClr val="0D2B55"/>
                </a:solidFill>
              </a:rPr>
              <a:t> </a:t>
            </a:r>
            <a:r>
              <a:rPr sz="3500" b="1" dirty="0" err="1">
                <a:solidFill>
                  <a:srgbClr val="0D2B55"/>
                </a:solidFill>
              </a:rPr>
              <a:t>для</a:t>
            </a:r>
            <a:r>
              <a:rPr sz="3500" b="1" dirty="0">
                <a:solidFill>
                  <a:srgbClr val="0D2B55"/>
                </a:solidFill>
              </a:rPr>
              <a:t> </a:t>
            </a:r>
            <a:r>
              <a:rPr sz="3500" b="1" dirty="0" err="1">
                <a:solidFill>
                  <a:srgbClr val="0D2B55"/>
                </a:solidFill>
              </a:rPr>
              <a:t>сайта</a:t>
            </a:r>
            <a:r>
              <a:rPr lang="ru-RU" sz="3500" b="1" dirty="0">
                <a:solidFill>
                  <a:srgbClr val="0D2B55"/>
                </a:solidFill>
              </a:rPr>
              <a:t> </a:t>
            </a:r>
            <a:endParaRPr lang="en-US" sz="3500" b="1" dirty="0">
              <a:solidFill>
                <a:srgbClr val="0D2B55"/>
              </a:solidFill>
            </a:endParaRPr>
          </a:p>
          <a:p>
            <a:pPr algn="l"/>
            <a:r>
              <a:rPr sz="3500" b="1" dirty="0" err="1">
                <a:solidFill>
                  <a:srgbClr val="0D2B55"/>
                </a:solidFill>
              </a:rPr>
              <a:t>медицинской</a:t>
            </a:r>
            <a:r>
              <a:rPr sz="3500" b="1" dirty="0">
                <a:solidFill>
                  <a:srgbClr val="0D2B55"/>
                </a:solidFill>
              </a:rPr>
              <a:t> </a:t>
            </a:r>
            <a:r>
              <a:rPr sz="3500" b="1" dirty="0" err="1">
                <a:solidFill>
                  <a:srgbClr val="0D2B55"/>
                </a:solidFill>
              </a:rPr>
              <a:t>клиники</a:t>
            </a:r>
            <a:r>
              <a:rPr sz="3500" b="1" dirty="0">
                <a:solidFill>
                  <a:srgbClr val="0D2B55"/>
                </a:solidFill>
              </a:rPr>
              <a:t> </a:t>
            </a:r>
            <a:endParaRPr lang="en-US" sz="3500" b="1" dirty="0">
              <a:solidFill>
                <a:srgbClr val="0D2B55"/>
              </a:solidFill>
            </a:endParaRPr>
          </a:p>
          <a:p>
            <a:pPr algn="l"/>
            <a:r>
              <a:rPr sz="3500" b="1" dirty="0">
                <a:solidFill>
                  <a:srgbClr val="0D2B55"/>
                </a:solidFill>
              </a:rPr>
              <a:t>«</a:t>
            </a:r>
            <a:r>
              <a:rPr sz="3500" b="1" dirty="0" err="1">
                <a:solidFill>
                  <a:srgbClr val="0D2B55"/>
                </a:solidFill>
              </a:rPr>
              <a:t>Alimma</a:t>
            </a:r>
            <a:r>
              <a:rPr sz="3500" b="1" dirty="0">
                <a:solidFill>
                  <a:srgbClr val="0D2B55"/>
                </a:solidFill>
              </a:rPr>
              <a:t>» с </a:t>
            </a:r>
            <a:r>
              <a:rPr sz="3500" b="1" dirty="0" err="1">
                <a:solidFill>
                  <a:srgbClr val="0D2B55"/>
                </a:solidFill>
              </a:rPr>
              <a:t>использованием</a:t>
            </a:r>
            <a:r>
              <a:rPr sz="3500" b="1" dirty="0">
                <a:solidFill>
                  <a:srgbClr val="0D2B55"/>
                </a:solidFill>
              </a:rPr>
              <a:t> </a:t>
            </a:r>
            <a:r>
              <a:rPr sz="3500" b="1" dirty="0" err="1">
                <a:solidFill>
                  <a:srgbClr val="0D2B55"/>
                </a:solidFill>
              </a:rPr>
              <a:t>современных</a:t>
            </a:r>
            <a:r>
              <a:rPr sz="3500" b="1" dirty="0">
                <a:solidFill>
                  <a:srgbClr val="0D2B55"/>
                </a:solidFill>
              </a:rPr>
              <a:t> </a:t>
            </a:r>
            <a:r>
              <a:rPr lang="ru-RU" sz="3500" b="1" dirty="0">
                <a:solidFill>
                  <a:srgbClr val="0D2B55"/>
                </a:solidFill>
              </a:rPr>
              <a:t> </a:t>
            </a:r>
            <a:r>
              <a:rPr sz="3500" b="1" dirty="0" err="1">
                <a:solidFill>
                  <a:srgbClr val="0D2B55"/>
                </a:solidFill>
              </a:rPr>
              <a:t>инструментов</a:t>
            </a:r>
            <a:r>
              <a:rPr sz="3500" b="1" dirty="0">
                <a:solidFill>
                  <a:srgbClr val="0D2B55"/>
                </a:solidFill>
              </a:rPr>
              <a:t>, </a:t>
            </a:r>
            <a:r>
              <a:rPr sz="3500" b="1" dirty="0" err="1">
                <a:solidFill>
                  <a:srgbClr val="0D2B55"/>
                </a:solidFill>
              </a:rPr>
              <a:t>для</a:t>
            </a:r>
            <a:r>
              <a:rPr sz="3500" b="1" dirty="0">
                <a:solidFill>
                  <a:srgbClr val="0D2B55"/>
                </a:solidFill>
              </a:rPr>
              <a:t> </a:t>
            </a:r>
            <a:r>
              <a:rPr sz="3500" b="1" dirty="0" err="1">
                <a:solidFill>
                  <a:srgbClr val="0D2B55"/>
                </a:solidFill>
              </a:rPr>
              <a:t>повышения</a:t>
            </a:r>
            <a:r>
              <a:rPr sz="3500" b="1" dirty="0">
                <a:solidFill>
                  <a:srgbClr val="0D2B55"/>
                </a:solidFill>
              </a:rPr>
              <a:t> </a:t>
            </a:r>
            <a:r>
              <a:rPr lang="ru-RU" sz="3500" b="1" dirty="0">
                <a:solidFill>
                  <a:srgbClr val="0D2B55"/>
                </a:solidFill>
              </a:rPr>
              <a:t>стабильности и </a:t>
            </a:r>
            <a:r>
              <a:rPr sz="3500" b="1" dirty="0" err="1">
                <a:solidFill>
                  <a:srgbClr val="0D2B55"/>
                </a:solidFill>
              </a:rPr>
              <a:t>эффективности</a:t>
            </a:r>
            <a:r>
              <a:rPr lang="ru-RU" sz="3500" b="1">
                <a:solidFill>
                  <a:srgbClr val="0D2B55"/>
                </a:solidFill>
              </a:rPr>
              <a:t> тестирования</a:t>
            </a:r>
            <a:r>
              <a:rPr sz="3500" b="1" dirty="0">
                <a:solidFill>
                  <a:srgbClr val="0D2B55"/>
                </a:solidFill>
              </a:rPr>
              <a:t>.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87838B6-887C-3636-2086-C7E1A5A31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416" y="1151227"/>
            <a:ext cx="3497899" cy="22102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Rectangle 4">
            <a:extLst>
              <a:ext uri="{FF2B5EF4-FFF2-40B4-BE49-F238E27FC236}">
                <a16:creationId xmlns:a16="http://schemas.microsoft.com/office/drawing/2014/main" id="{A1C6835B-AF2C-24A5-DA9D-F91A67586CED}"/>
              </a:ext>
            </a:extLst>
          </p:cNvPr>
          <p:cNvSpPr/>
          <p:nvPr/>
        </p:nvSpPr>
        <p:spPr>
          <a:xfrm>
            <a:off x="-6649" y="943382"/>
            <a:ext cx="8174266" cy="45719"/>
          </a:xfrm>
          <a:prstGeom prst="rect">
            <a:avLst/>
          </a:prstGeom>
          <a:solidFill>
            <a:srgbClr val="009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8115112-E416-974D-EBE9-9DE52EDDABB2}"/>
              </a:ext>
            </a:extLst>
          </p:cNvPr>
          <p:cNvSpPr/>
          <p:nvPr/>
        </p:nvSpPr>
        <p:spPr>
          <a:xfrm>
            <a:off x="-1" y="975288"/>
            <a:ext cx="8166401" cy="5144525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53"/>
              </a:spcBef>
            </a:pPr>
            <a:r>
              <a:rPr lang="ru-RU" sz="2800" b="1" dirty="0">
                <a:solidFill>
                  <a:srgbClr val="002060"/>
                </a:solidFill>
              </a:rPr>
              <a:t>▸  Провести сравнительный анализ ручного и автоматизированного тестирования</a:t>
            </a:r>
          </a:p>
          <a:p>
            <a:pPr>
              <a:spcBef>
                <a:spcPts val="453"/>
              </a:spcBef>
            </a:pPr>
            <a:r>
              <a:rPr lang="ru-RU" sz="2800" b="1" dirty="0">
                <a:solidFill>
                  <a:srgbClr val="002060"/>
                </a:solidFill>
              </a:rPr>
              <a:t>▸  Обосновать выбор инструментов: Python, </a:t>
            </a:r>
            <a:r>
              <a:rPr lang="ru-RU" sz="2800" b="1" dirty="0" err="1">
                <a:solidFill>
                  <a:srgbClr val="002060"/>
                </a:solidFill>
              </a:rPr>
              <a:t>PyTest</a:t>
            </a:r>
            <a:r>
              <a:rPr lang="ru-RU" sz="2800" b="1" dirty="0">
                <a:solidFill>
                  <a:srgbClr val="002060"/>
                </a:solidFill>
              </a:rPr>
              <a:t>, </a:t>
            </a:r>
            <a:r>
              <a:rPr lang="ru-RU" sz="2800" b="1" dirty="0" err="1">
                <a:solidFill>
                  <a:srgbClr val="002060"/>
                </a:solidFill>
              </a:rPr>
              <a:t>Playwright</a:t>
            </a:r>
            <a:endParaRPr lang="ru-RU" sz="2800" b="1" dirty="0">
              <a:solidFill>
                <a:srgbClr val="002060"/>
              </a:solidFill>
            </a:endParaRPr>
          </a:p>
          <a:p>
            <a:pPr>
              <a:spcBef>
                <a:spcPts val="453"/>
              </a:spcBef>
            </a:pPr>
            <a:r>
              <a:rPr lang="ru-RU" sz="2800" b="1" dirty="0">
                <a:solidFill>
                  <a:srgbClr val="002060"/>
                </a:solidFill>
              </a:rPr>
              <a:t>▸  Разработать тест-кейсы для ключевых сценариев сайта</a:t>
            </a:r>
          </a:p>
          <a:p>
            <a:pPr>
              <a:spcBef>
                <a:spcPts val="453"/>
              </a:spcBef>
            </a:pPr>
            <a:r>
              <a:rPr lang="ru-RU" sz="2800" b="1" dirty="0">
                <a:solidFill>
                  <a:srgbClr val="002060"/>
                </a:solidFill>
              </a:rPr>
              <a:t>▸  Реализовать автоматизированные тесты по паттерну Page Object Model</a:t>
            </a:r>
          </a:p>
          <a:p>
            <a:pPr>
              <a:spcBef>
                <a:spcPts val="453"/>
              </a:spcBef>
            </a:pPr>
            <a:r>
              <a:rPr lang="ru-RU" sz="2800" b="1" dirty="0">
                <a:solidFill>
                  <a:srgbClr val="002060"/>
                </a:solidFill>
              </a:rPr>
              <a:t>▸  Выполнить прогон тестов и сформировать </a:t>
            </a:r>
            <a:r>
              <a:rPr lang="ru-RU" sz="2800" b="1" dirty="0" err="1">
                <a:solidFill>
                  <a:srgbClr val="002060"/>
                </a:solidFill>
              </a:rPr>
              <a:t>Allure</a:t>
            </a:r>
            <a:r>
              <a:rPr lang="ru-RU" sz="2800" b="1" dirty="0">
                <a:solidFill>
                  <a:srgbClr val="002060"/>
                </a:solidFill>
              </a:rPr>
              <a:t>-отчёт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C376164-351B-44E4-F1DF-6F0F716147C3}"/>
              </a:ext>
            </a:extLst>
          </p:cNvPr>
          <p:cNvSpPr/>
          <p:nvPr/>
        </p:nvSpPr>
        <p:spPr>
          <a:xfrm>
            <a:off x="-1" y="5877932"/>
            <a:ext cx="8167617" cy="241881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4D4ECA1-CC42-9C74-91DD-1558EE2796C1}"/>
              </a:ext>
            </a:extLst>
          </p:cNvPr>
          <p:cNvSpPr/>
          <p:nvPr/>
        </p:nvSpPr>
        <p:spPr>
          <a:xfrm>
            <a:off x="-3" y="0"/>
            <a:ext cx="8159751" cy="97528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E7621C-1101-972F-B4A1-B347E4C833D1}"/>
              </a:ext>
            </a:extLst>
          </p:cNvPr>
          <p:cNvSpPr txBox="1"/>
          <p:nvPr/>
        </p:nvSpPr>
        <p:spPr>
          <a:xfrm>
            <a:off x="195404" y="179918"/>
            <a:ext cx="76812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200" b="1" dirty="0">
                <a:solidFill>
                  <a:srgbClr val="FFFFFF"/>
                </a:solidFill>
              </a:rPr>
              <a:t>З</a:t>
            </a:r>
            <a:r>
              <a:rPr sz="3200" b="1" dirty="0" err="1">
                <a:solidFill>
                  <a:srgbClr val="FFFFFF"/>
                </a:solidFill>
              </a:rPr>
              <a:t>адачи</a:t>
            </a:r>
            <a:r>
              <a:rPr sz="3200" b="1" dirty="0">
                <a:solidFill>
                  <a:srgbClr val="FFFFFF"/>
                </a:solidFill>
              </a:rPr>
              <a:t> </a:t>
            </a:r>
            <a:r>
              <a:rPr sz="3200" b="1" dirty="0" err="1">
                <a:solidFill>
                  <a:srgbClr val="FFFFFF"/>
                </a:solidFill>
              </a:rPr>
              <a:t>дипломной</a:t>
            </a:r>
            <a:r>
              <a:rPr sz="3200" b="1" dirty="0">
                <a:solidFill>
                  <a:srgbClr val="FFFFFF"/>
                </a:solidFill>
              </a:rPr>
              <a:t> </a:t>
            </a:r>
            <a:r>
              <a:rPr sz="3200" b="1" dirty="0" err="1">
                <a:solidFill>
                  <a:srgbClr val="FFFFFF"/>
                </a:solidFill>
              </a:rPr>
              <a:t>работы</a:t>
            </a:r>
            <a:endParaRPr sz="3200" b="1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978ED5-09D7-EE7D-5619-EDD0AB2CE67B}"/>
              </a:ext>
            </a:extLst>
          </p:cNvPr>
          <p:cNvSpPr txBox="1"/>
          <p:nvPr/>
        </p:nvSpPr>
        <p:spPr>
          <a:xfrm>
            <a:off x="7876666" y="5844983"/>
            <a:ext cx="2764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400" dirty="0">
                <a:solidFill>
                  <a:srgbClr val="009BD8"/>
                </a:solidFill>
              </a:rPr>
              <a:t>3</a:t>
            </a:r>
            <a:endParaRPr sz="1400" dirty="0">
              <a:solidFill>
                <a:srgbClr val="009BD8"/>
              </a:solidFill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A2F68C26-F0AC-5258-F08D-E84EA5A6BBE5}"/>
              </a:ext>
            </a:extLst>
          </p:cNvPr>
          <p:cNvSpPr/>
          <p:nvPr/>
        </p:nvSpPr>
        <p:spPr>
          <a:xfrm>
            <a:off x="-6656" y="956363"/>
            <a:ext cx="8174271" cy="45719"/>
          </a:xfrm>
          <a:prstGeom prst="rect">
            <a:avLst/>
          </a:prstGeom>
          <a:solidFill>
            <a:srgbClr val="009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</p:spTree>
    <p:extLst>
      <p:ext uri="{BB962C8B-B14F-4D97-AF65-F5344CB8AC3E}">
        <p14:creationId xmlns:p14="http://schemas.microsoft.com/office/powerpoint/2010/main" val="2026446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407834"/>
            <a:ext cx="8159750" cy="5710133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3" name="Rectangle 2"/>
          <p:cNvSpPr/>
          <p:nvPr/>
        </p:nvSpPr>
        <p:spPr>
          <a:xfrm>
            <a:off x="1" y="1845"/>
            <a:ext cx="8159750" cy="958585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4" name="TextBox 3"/>
          <p:cNvSpPr txBox="1"/>
          <p:nvPr/>
        </p:nvSpPr>
        <p:spPr>
          <a:xfrm>
            <a:off x="246228" y="0"/>
            <a:ext cx="77928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 err="1">
                <a:solidFill>
                  <a:srgbClr val="FFFFFF"/>
                </a:solidFill>
              </a:rPr>
              <a:t>Объект</a:t>
            </a:r>
            <a:r>
              <a:rPr sz="3200" b="1" dirty="0">
                <a:solidFill>
                  <a:srgbClr val="FFFFFF"/>
                </a:solidFill>
              </a:rPr>
              <a:t> </a:t>
            </a:r>
            <a:r>
              <a:rPr sz="3200" b="1" dirty="0" err="1">
                <a:solidFill>
                  <a:srgbClr val="FFFFFF"/>
                </a:solidFill>
              </a:rPr>
              <a:t>тестирования</a:t>
            </a:r>
            <a:endParaRPr sz="3200" b="1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7642" y="464979"/>
            <a:ext cx="27481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dirty="0" err="1">
                <a:solidFill>
                  <a:srgbClr val="009BD8"/>
                </a:solidFill>
              </a:rPr>
              <a:t>Сайт</a:t>
            </a:r>
            <a:r>
              <a:rPr sz="2400" dirty="0">
                <a:solidFill>
                  <a:srgbClr val="009BD8"/>
                </a:solidFill>
              </a:rPr>
              <a:t> «</a:t>
            </a:r>
            <a:r>
              <a:rPr sz="2400" dirty="0" err="1">
                <a:solidFill>
                  <a:srgbClr val="009BD8"/>
                </a:solidFill>
              </a:rPr>
              <a:t>Alimma</a:t>
            </a:r>
            <a:r>
              <a:rPr sz="2400" dirty="0">
                <a:solidFill>
                  <a:srgbClr val="009BD8"/>
                </a:solidFill>
              </a:rPr>
              <a:t>»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0809"/>
            <a:ext cx="8159749" cy="234005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9" name="TextBox 8"/>
          <p:cNvSpPr txBox="1"/>
          <p:nvPr/>
        </p:nvSpPr>
        <p:spPr>
          <a:xfrm>
            <a:off x="7883314" y="5835445"/>
            <a:ext cx="2764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400" dirty="0">
                <a:solidFill>
                  <a:srgbClr val="009BD8"/>
                </a:solidFill>
              </a:rPr>
              <a:t>4</a:t>
            </a:r>
            <a:endParaRPr sz="1400" dirty="0">
              <a:solidFill>
                <a:srgbClr val="009BD8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050" y="1035918"/>
            <a:ext cx="3555150" cy="48364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11" name="TextBox 10"/>
          <p:cNvSpPr txBox="1"/>
          <p:nvPr/>
        </p:nvSpPr>
        <p:spPr>
          <a:xfrm>
            <a:off x="130918" y="935152"/>
            <a:ext cx="29815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800" b="1" dirty="0">
                <a:solidFill>
                  <a:srgbClr val="0D2B55"/>
                </a:solidFill>
              </a:rPr>
              <a:t>Что тестируем </a:t>
            </a:r>
            <a:r>
              <a:rPr lang="ru-RU" sz="2400" b="1" dirty="0">
                <a:solidFill>
                  <a:srgbClr val="0D2B55"/>
                </a:solidFill>
              </a:rPr>
              <a:t>:</a:t>
            </a:r>
            <a:endParaRPr sz="2400" b="1" dirty="0">
              <a:solidFill>
                <a:srgbClr val="0D2B55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-139167" y="3461647"/>
            <a:ext cx="3966844" cy="575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29"/>
              </a:spcBef>
            </a:pPr>
            <a:endParaRPr sz="1360" dirty="0">
              <a:solidFill>
                <a:srgbClr val="444455"/>
              </a:solidFill>
            </a:endParaRPr>
          </a:p>
          <a:p>
            <a:pPr>
              <a:spcBef>
                <a:spcPts val="529"/>
              </a:spcBef>
            </a:pPr>
            <a:endParaRPr sz="1360" dirty="0">
              <a:solidFill>
                <a:srgbClr val="444455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751202" y="1114131"/>
            <a:ext cx="4347498" cy="4695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009BD8"/>
                </a:solidFill>
              </a:rPr>
              <a:t>«Alimma»</a:t>
            </a:r>
            <a:endParaRPr sz="136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1BB305-AF10-9723-1EF2-5F727CE47815}"/>
              </a:ext>
            </a:extLst>
          </p:cNvPr>
          <p:cNvSpPr txBox="1"/>
          <p:nvPr/>
        </p:nvSpPr>
        <p:spPr>
          <a:xfrm>
            <a:off x="61050" y="1499195"/>
            <a:ext cx="3755418" cy="4414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29"/>
              </a:spcBef>
            </a:pPr>
            <a:r>
              <a:rPr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✓  </a:t>
            </a:r>
            <a:r>
              <a:rPr sz="2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Каталог</a:t>
            </a:r>
            <a:r>
              <a:rPr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sz="2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врачей</a:t>
            </a:r>
            <a:r>
              <a:rPr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и </a:t>
            </a:r>
            <a:r>
              <a:rPr sz="2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специалистов</a:t>
            </a:r>
            <a:endParaRPr sz="2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529"/>
              </a:spcBef>
            </a:pPr>
            <a:r>
              <a:rPr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✓  </a:t>
            </a:r>
            <a:r>
              <a:rPr sz="2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Страницы</a:t>
            </a:r>
            <a:r>
              <a:rPr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sz="2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медицинских</a:t>
            </a:r>
            <a:r>
              <a:rPr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sz="2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услуг</a:t>
            </a:r>
            <a:endParaRPr sz="2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529"/>
              </a:spcBef>
            </a:pPr>
            <a:r>
              <a:rPr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✓  </a:t>
            </a:r>
            <a:r>
              <a:rPr sz="2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Онлайн-запись</a:t>
            </a:r>
            <a:r>
              <a:rPr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sz="2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на</a:t>
            </a:r>
            <a:r>
              <a:rPr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sz="2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приём</a:t>
            </a:r>
            <a:endParaRPr sz="2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529"/>
              </a:spcBef>
            </a:pPr>
            <a:r>
              <a:rPr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✓  </a:t>
            </a:r>
            <a:r>
              <a:rPr sz="2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Раздел</a:t>
            </a:r>
            <a:r>
              <a:rPr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sz="2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цен</a:t>
            </a:r>
            <a:r>
              <a:rPr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sz="2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на</a:t>
            </a:r>
            <a:r>
              <a:rPr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sz="2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услуги</a:t>
            </a:r>
            <a:endParaRPr sz="2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529"/>
              </a:spcBef>
            </a:pPr>
            <a:r>
              <a:rPr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✓  WhatsApp-</a:t>
            </a:r>
            <a:r>
              <a:rPr sz="2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виджет</a:t>
            </a:r>
            <a:r>
              <a:rPr lang="ru-RU"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ссылка на </a:t>
            </a:r>
            <a:r>
              <a:rPr sz="2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Prodoctorov</a:t>
            </a:r>
            <a:endParaRPr sz="2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529"/>
              </a:spcBef>
            </a:pPr>
            <a:r>
              <a:rPr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✓  </a:t>
            </a:r>
            <a:r>
              <a:rPr sz="2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Карусель</a:t>
            </a:r>
            <a:r>
              <a:rPr lang="ru-RU"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пагинация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725FD95-2362-4F03-E7F9-1B254B9AB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482" y="1163424"/>
            <a:ext cx="2567965" cy="4579652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CBC0A97-B63F-AEE4-62CD-18630CAA7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851" y="4391563"/>
            <a:ext cx="1470712" cy="1351513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DB4D5F05-BC25-147B-01F5-E42AACC06F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8717" y="1817069"/>
            <a:ext cx="1470712" cy="237150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9F632A45-2E7E-FA99-AAEB-F4D97C1420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8717" y="1175018"/>
            <a:ext cx="1454980" cy="469348"/>
          </a:xfrm>
          <a:prstGeom prst="rect">
            <a:avLst/>
          </a:prstGeom>
        </p:spPr>
      </p:pic>
      <p:sp>
        <p:nvSpPr>
          <p:cNvPr id="29" name="Rectangle 4">
            <a:extLst>
              <a:ext uri="{FF2B5EF4-FFF2-40B4-BE49-F238E27FC236}">
                <a16:creationId xmlns:a16="http://schemas.microsoft.com/office/drawing/2014/main" id="{031FFC30-8AE7-B24B-60EC-415099802B42}"/>
              </a:ext>
            </a:extLst>
          </p:cNvPr>
          <p:cNvSpPr/>
          <p:nvPr/>
        </p:nvSpPr>
        <p:spPr>
          <a:xfrm>
            <a:off x="0" y="947829"/>
            <a:ext cx="8159748" cy="45719"/>
          </a:xfrm>
          <a:prstGeom prst="rect">
            <a:avLst/>
          </a:prstGeom>
          <a:solidFill>
            <a:srgbClr val="009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77D201-0730-8D43-4987-BE6C8C827C1F}"/>
              </a:ext>
            </a:extLst>
          </p:cNvPr>
          <p:cNvSpPr/>
          <p:nvPr/>
        </p:nvSpPr>
        <p:spPr>
          <a:xfrm>
            <a:off x="1" y="407834"/>
            <a:ext cx="8159750" cy="5710133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DBBA45-B197-EFC5-B2DF-C4D62E3718C6}"/>
              </a:ext>
            </a:extLst>
          </p:cNvPr>
          <p:cNvSpPr/>
          <p:nvPr/>
        </p:nvSpPr>
        <p:spPr>
          <a:xfrm>
            <a:off x="0" y="1846"/>
            <a:ext cx="8159751" cy="9205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EBAE55-89A9-1DD5-43BA-7AB7EB36FAF6}"/>
              </a:ext>
            </a:extLst>
          </p:cNvPr>
          <p:cNvSpPr txBox="1"/>
          <p:nvPr/>
        </p:nvSpPr>
        <p:spPr>
          <a:xfrm>
            <a:off x="144541" y="111028"/>
            <a:ext cx="85020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 err="1">
                <a:solidFill>
                  <a:srgbClr val="FFFFFF"/>
                </a:solidFill>
              </a:rPr>
              <a:t>Объект</a:t>
            </a:r>
            <a:r>
              <a:rPr sz="3200" b="1" dirty="0">
                <a:solidFill>
                  <a:srgbClr val="FFFFFF"/>
                </a:solidFill>
              </a:rPr>
              <a:t> </a:t>
            </a:r>
            <a:r>
              <a:rPr sz="3200" b="1" dirty="0" err="1">
                <a:solidFill>
                  <a:srgbClr val="FFFFFF"/>
                </a:solidFill>
              </a:rPr>
              <a:t>тестирования</a:t>
            </a:r>
            <a:endParaRPr sz="3200" b="1" dirty="0">
              <a:solidFill>
                <a:srgbClr val="FFFFFF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D124B59-C0D6-05B9-6F65-1DB24230FF3D}"/>
              </a:ext>
            </a:extLst>
          </p:cNvPr>
          <p:cNvSpPr/>
          <p:nvPr/>
        </p:nvSpPr>
        <p:spPr>
          <a:xfrm>
            <a:off x="0" y="5888502"/>
            <a:ext cx="8159751" cy="231311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171AC11E-96E9-6327-D757-3D4257DEA04D}"/>
              </a:ext>
            </a:extLst>
          </p:cNvPr>
          <p:cNvSpPr/>
          <p:nvPr/>
        </p:nvSpPr>
        <p:spPr>
          <a:xfrm>
            <a:off x="3918645" y="1052672"/>
            <a:ext cx="4166457" cy="46593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4CD1F7F0-1433-4ADC-4422-B82ECAD9891A}"/>
              </a:ext>
            </a:extLst>
          </p:cNvPr>
          <p:cNvSpPr/>
          <p:nvPr/>
        </p:nvSpPr>
        <p:spPr>
          <a:xfrm>
            <a:off x="74648" y="1043753"/>
            <a:ext cx="3783656" cy="48096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E9E21C-EFE8-E99E-8293-EEEC9CE731F5}"/>
              </a:ext>
            </a:extLst>
          </p:cNvPr>
          <p:cNvSpPr txBox="1"/>
          <p:nvPr/>
        </p:nvSpPr>
        <p:spPr>
          <a:xfrm>
            <a:off x="137738" y="1707496"/>
            <a:ext cx="3946070" cy="3978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29"/>
              </a:spcBef>
            </a:pPr>
            <a:r>
              <a:rPr lang="ru-RU" sz="3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→</a:t>
            </a:r>
            <a:r>
              <a:rPr sz="3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3000" b="1" dirty="0">
                <a:solidFill>
                  <a:srgbClr val="444455"/>
                </a:solidFill>
              </a:rPr>
              <a:t>Динамические элементы (карусели, всплывающие окна)</a:t>
            </a:r>
          </a:p>
          <a:p>
            <a:pPr>
              <a:spcBef>
                <a:spcPts val="529"/>
              </a:spcBef>
            </a:pPr>
            <a:r>
              <a:rPr lang="ru-RU" sz="3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→ </a:t>
            </a:r>
            <a:r>
              <a:rPr lang="ru-RU" sz="3000" b="1" dirty="0">
                <a:solidFill>
                  <a:srgbClr val="444455"/>
                </a:solidFill>
              </a:rPr>
              <a:t>Внешние интеграции</a:t>
            </a:r>
          </a:p>
          <a:p>
            <a:pPr>
              <a:spcBef>
                <a:spcPts val="529"/>
              </a:spcBef>
            </a:pPr>
            <a:r>
              <a:rPr lang="ru-RU" sz="3000" b="1" dirty="0">
                <a:solidFill>
                  <a:srgbClr val="444455"/>
                </a:solidFill>
              </a:rPr>
              <a:t>(</a:t>
            </a:r>
            <a:r>
              <a:rPr lang="en-US" sz="3000" b="1" dirty="0" err="1">
                <a:solidFill>
                  <a:srgbClr val="444455"/>
                </a:solidFill>
              </a:rPr>
              <a:t>Prodoctorov</a:t>
            </a:r>
            <a:r>
              <a:rPr lang="ru-RU" sz="3000" b="1" dirty="0">
                <a:solidFill>
                  <a:srgbClr val="444455"/>
                </a:solidFill>
              </a:rPr>
              <a:t>)</a:t>
            </a:r>
          </a:p>
          <a:p>
            <a:pPr>
              <a:spcBef>
                <a:spcPts val="529"/>
              </a:spcBef>
            </a:pPr>
            <a:r>
              <a:rPr lang="ru-RU" sz="3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→</a:t>
            </a:r>
            <a:r>
              <a:rPr lang="ru-RU" sz="3000" b="1" dirty="0">
                <a:solidFill>
                  <a:srgbClr val="CCE8FF"/>
                </a:solidFill>
              </a:rPr>
              <a:t>  </a:t>
            </a:r>
            <a:r>
              <a:rPr lang="ru-RU" sz="3000" b="1" dirty="0">
                <a:solidFill>
                  <a:srgbClr val="444455"/>
                </a:solidFill>
              </a:rPr>
              <a:t>Форма записи на прием (валидация)</a:t>
            </a:r>
            <a:endParaRPr sz="3000" b="1" dirty="0">
              <a:solidFill>
                <a:srgbClr val="444455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0B9863-FD47-4210-83E0-720F572DA63A}"/>
              </a:ext>
            </a:extLst>
          </p:cNvPr>
          <p:cNvSpPr txBox="1"/>
          <p:nvPr/>
        </p:nvSpPr>
        <p:spPr>
          <a:xfrm>
            <a:off x="256860" y="1128247"/>
            <a:ext cx="28472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000" b="1" dirty="0">
                <a:solidFill>
                  <a:srgbClr val="0D2B55"/>
                </a:solidFill>
              </a:rPr>
              <a:t>Сложности :</a:t>
            </a:r>
            <a:endParaRPr sz="3000" b="1" dirty="0">
              <a:solidFill>
                <a:srgbClr val="0D2B55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AD71B5-019B-662A-E4D4-374FC3E918B8}"/>
              </a:ext>
            </a:extLst>
          </p:cNvPr>
          <p:cNvSpPr txBox="1"/>
          <p:nvPr/>
        </p:nvSpPr>
        <p:spPr>
          <a:xfrm>
            <a:off x="7862348" y="5853363"/>
            <a:ext cx="2764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400" dirty="0">
                <a:solidFill>
                  <a:srgbClr val="009BD8"/>
                </a:solidFill>
              </a:rPr>
              <a:t>5</a:t>
            </a:r>
            <a:endParaRPr sz="1400" dirty="0">
              <a:solidFill>
                <a:srgbClr val="009BD8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C6596EE-2CDE-AE60-14D9-402466984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4934" y="4143375"/>
            <a:ext cx="4023675" cy="14859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6B5557CC-8CBD-4BF5-C614-3CBE08C5E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3292" y="3106646"/>
            <a:ext cx="4015317" cy="915321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EFF7774D-0F7F-8D8D-5E18-D6A16F88A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3292" y="2069917"/>
            <a:ext cx="4015317" cy="91532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EDD695F-5E43-0E01-4B94-F14FFB185FE7}"/>
              </a:ext>
            </a:extLst>
          </p:cNvPr>
          <p:cNvSpPr txBox="1"/>
          <p:nvPr/>
        </p:nvSpPr>
        <p:spPr>
          <a:xfrm>
            <a:off x="4153339" y="1161739"/>
            <a:ext cx="39460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dirty="0" err="1">
                <a:solidFill>
                  <a:srgbClr val="009BD8"/>
                </a:solidFill>
              </a:rPr>
              <a:t>Сайт</a:t>
            </a:r>
            <a:r>
              <a:rPr sz="2400" dirty="0">
                <a:solidFill>
                  <a:srgbClr val="009BD8"/>
                </a:solidFill>
              </a:rPr>
              <a:t> </a:t>
            </a:r>
            <a:r>
              <a:rPr sz="2400" dirty="0" err="1">
                <a:solidFill>
                  <a:srgbClr val="009BD8"/>
                </a:solidFill>
              </a:rPr>
              <a:t>медицинской</a:t>
            </a:r>
            <a:r>
              <a:rPr sz="2400" dirty="0">
                <a:solidFill>
                  <a:srgbClr val="009BD8"/>
                </a:solidFill>
              </a:rPr>
              <a:t> </a:t>
            </a:r>
            <a:r>
              <a:rPr sz="2400" dirty="0" err="1">
                <a:solidFill>
                  <a:srgbClr val="009BD8"/>
                </a:solidFill>
              </a:rPr>
              <a:t>клиники</a:t>
            </a:r>
            <a:r>
              <a:rPr sz="2400" dirty="0">
                <a:solidFill>
                  <a:srgbClr val="009BD8"/>
                </a:solidFill>
              </a:rPr>
              <a:t> «</a:t>
            </a:r>
            <a:r>
              <a:rPr sz="2400" dirty="0" err="1">
                <a:solidFill>
                  <a:srgbClr val="009BD8"/>
                </a:solidFill>
              </a:rPr>
              <a:t>Alimma</a:t>
            </a:r>
            <a:r>
              <a:rPr sz="2400" dirty="0">
                <a:solidFill>
                  <a:srgbClr val="009BD8"/>
                </a:solidFill>
              </a:rPr>
              <a:t>» — alimma-ufa.ru</a:t>
            </a:r>
          </a:p>
        </p:txBody>
      </p:sp>
      <p:sp>
        <p:nvSpPr>
          <p:cNvPr id="30" name="Rectangle 4">
            <a:extLst>
              <a:ext uri="{FF2B5EF4-FFF2-40B4-BE49-F238E27FC236}">
                <a16:creationId xmlns:a16="http://schemas.microsoft.com/office/drawing/2014/main" id="{EE2DF04A-EEEA-3A86-4F4C-CD273A07BD1F}"/>
              </a:ext>
            </a:extLst>
          </p:cNvPr>
          <p:cNvSpPr/>
          <p:nvPr/>
        </p:nvSpPr>
        <p:spPr>
          <a:xfrm>
            <a:off x="-1" y="920523"/>
            <a:ext cx="8167618" cy="45719"/>
          </a:xfrm>
          <a:prstGeom prst="rect">
            <a:avLst/>
          </a:prstGeom>
          <a:solidFill>
            <a:srgbClr val="009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</p:spTree>
    <p:extLst>
      <p:ext uri="{BB962C8B-B14F-4D97-AF65-F5344CB8AC3E}">
        <p14:creationId xmlns:p14="http://schemas.microsoft.com/office/powerpoint/2010/main" val="228558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68327"/>
            <a:ext cx="8159751" cy="565148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3" name="Rectangle 2"/>
          <p:cNvSpPr/>
          <p:nvPr/>
        </p:nvSpPr>
        <p:spPr>
          <a:xfrm>
            <a:off x="0" y="-5069"/>
            <a:ext cx="8159750" cy="9329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4" name="TextBox 3"/>
          <p:cNvSpPr txBox="1"/>
          <p:nvPr/>
        </p:nvSpPr>
        <p:spPr>
          <a:xfrm>
            <a:off x="-62016" y="151212"/>
            <a:ext cx="8638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 err="1">
                <a:solidFill>
                  <a:srgbClr val="FFFFFF"/>
                </a:solidFill>
              </a:rPr>
              <a:t>Виды</a:t>
            </a:r>
            <a:r>
              <a:rPr sz="2800" b="1" dirty="0">
                <a:solidFill>
                  <a:srgbClr val="FFFFFF"/>
                </a:solidFill>
              </a:rPr>
              <a:t> </a:t>
            </a:r>
            <a:r>
              <a:rPr sz="2800" b="1" dirty="0" err="1">
                <a:solidFill>
                  <a:srgbClr val="FFFFFF"/>
                </a:solidFill>
              </a:rPr>
              <a:t>тестирования</a:t>
            </a:r>
            <a:r>
              <a:rPr sz="2800" b="1" dirty="0">
                <a:solidFill>
                  <a:srgbClr val="FFFFFF"/>
                </a:solidFill>
              </a:rPr>
              <a:t>, </a:t>
            </a:r>
            <a:r>
              <a:rPr sz="2800" b="1" dirty="0" err="1">
                <a:solidFill>
                  <a:srgbClr val="FFFFFF"/>
                </a:solidFill>
              </a:rPr>
              <a:t>применимые</a:t>
            </a:r>
            <a:r>
              <a:rPr sz="2800" b="1" dirty="0">
                <a:solidFill>
                  <a:srgbClr val="FFFFFF"/>
                </a:solidFill>
              </a:rPr>
              <a:t> к </a:t>
            </a:r>
            <a:r>
              <a:rPr sz="2800" b="1" dirty="0" err="1">
                <a:solidFill>
                  <a:srgbClr val="FFFFFF"/>
                </a:solidFill>
              </a:rPr>
              <a:t>сайту</a:t>
            </a:r>
            <a:r>
              <a:rPr sz="2800" b="1" dirty="0">
                <a:solidFill>
                  <a:srgbClr val="FFFFFF"/>
                </a:solidFill>
              </a:rPr>
              <a:t> «</a:t>
            </a:r>
            <a:r>
              <a:rPr sz="2800" b="1" dirty="0" err="1">
                <a:solidFill>
                  <a:srgbClr val="FFFFFF"/>
                </a:solidFill>
              </a:rPr>
              <a:t>Alimma</a:t>
            </a:r>
            <a:r>
              <a:rPr sz="2800" b="1" dirty="0">
                <a:solidFill>
                  <a:srgbClr val="FFFFFF"/>
                </a:solidFill>
              </a:rPr>
              <a:t>»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912981"/>
            <a:ext cx="8159751" cy="22311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8" name="TextBox 7"/>
          <p:cNvSpPr txBox="1"/>
          <p:nvPr/>
        </p:nvSpPr>
        <p:spPr>
          <a:xfrm>
            <a:off x="7825230" y="5876805"/>
            <a:ext cx="2764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400" dirty="0">
                <a:solidFill>
                  <a:srgbClr val="009BD8"/>
                </a:solidFill>
              </a:rPr>
              <a:t>6</a:t>
            </a:r>
            <a:endParaRPr sz="1400" dirty="0">
              <a:solidFill>
                <a:srgbClr val="009BD8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5014" y="1052955"/>
            <a:ext cx="8025747" cy="13424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10" name="TextBox 9"/>
          <p:cNvSpPr txBox="1"/>
          <p:nvPr/>
        </p:nvSpPr>
        <p:spPr>
          <a:xfrm>
            <a:off x="321150" y="1057807"/>
            <a:ext cx="30224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 err="1">
                <a:solidFill>
                  <a:srgbClr val="FFFFFF"/>
                </a:solidFill>
              </a:rPr>
              <a:t>Функциональное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1435" y="1548159"/>
            <a:ext cx="79302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dirty="0" err="1">
                <a:solidFill>
                  <a:srgbClr val="CCE0FF"/>
                </a:solidFill>
              </a:rPr>
              <a:t>Проверка</a:t>
            </a:r>
            <a:r>
              <a:rPr sz="2400" dirty="0">
                <a:solidFill>
                  <a:srgbClr val="CCE0FF"/>
                </a:solidFill>
              </a:rPr>
              <a:t> </a:t>
            </a:r>
            <a:r>
              <a:rPr sz="2400" dirty="0" err="1">
                <a:solidFill>
                  <a:srgbClr val="CCE0FF"/>
                </a:solidFill>
              </a:rPr>
              <a:t>корректности</a:t>
            </a:r>
            <a:r>
              <a:rPr sz="2400" dirty="0">
                <a:solidFill>
                  <a:srgbClr val="CCE0FF"/>
                </a:solidFill>
              </a:rPr>
              <a:t> </a:t>
            </a:r>
            <a:r>
              <a:rPr sz="2400" dirty="0" err="1">
                <a:solidFill>
                  <a:srgbClr val="CCE0FF"/>
                </a:solidFill>
              </a:rPr>
              <a:t>работы</a:t>
            </a:r>
            <a:r>
              <a:rPr sz="2400" dirty="0">
                <a:solidFill>
                  <a:srgbClr val="CCE0FF"/>
                </a:solidFill>
              </a:rPr>
              <a:t> </a:t>
            </a:r>
            <a:r>
              <a:rPr sz="2400" dirty="0" err="1">
                <a:solidFill>
                  <a:srgbClr val="CCE0FF"/>
                </a:solidFill>
              </a:rPr>
              <a:t>всех</a:t>
            </a:r>
            <a:r>
              <a:rPr sz="2400" dirty="0">
                <a:solidFill>
                  <a:srgbClr val="CCE0FF"/>
                </a:solidFill>
              </a:rPr>
              <a:t> </a:t>
            </a:r>
            <a:r>
              <a:rPr sz="2400" dirty="0" err="1">
                <a:solidFill>
                  <a:srgbClr val="CCE0FF"/>
                </a:solidFill>
              </a:rPr>
              <a:t>функций</a:t>
            </a:r>
            <a:r>
              <a:rPr sz="2400" dirty="0">
                <a:solidFill>
                  <a:srgbClr val="CCE0FF"/>
                </a:solidFill>
              </a:rPr>
              <a:t>: </a:t>
            </a:r>
            <a:r>
              <a:rPr sz="2400" dirty="0" err="1">
                <a:solidFill>
                  <a:srgbClr val="CCE0FF"/>
                </a:solidFill>
              </a:rPr>
              <a:t>форм</a:t>
            </a:r>
            <a:r>
              <a:rPr sz="2400" dirty="0">
                <a:solidFill>
                  <a:srgbClr val="CCE0FF"/>
                </a:solidFill>
              </a:rPr>
              <a:t>, </a:t>
            </a:r>
            <a:r>
              <a:rPr sz="2400" dirty="0" err="1">
                <a:solidFill>
                  <a:srgbClr val="CCE0FF"/>
                </a:solidFill>
              </a:rPr>
              <a:t>кнопок</a:t>
            </a:r>
            <a:r>
              <a:rPr sz="2400" dirty="0">
                <a:solidFill>
                  <a:srgbClr val="CCE0FF"/>
                </a:solidFill>
              </a:rPr>
              <a:t>, </a:t>
            </a:r>
            <a:r>
              <a:rPr sz="2400" dirty="0" err="1">
                <a:solidFill>
                  <a:srgbClr val="CCE0FF"/>
                </a:solidFill>
              </a:rPr>
              <a:t>меню</a:t>
            </a:r>
            <a:r>
              <a:rPr sz="2400" dirty="0">
                <a:solidFill>
                  <a:srgbClr val="CCE0FF"/>
                </a:solidFill>
              </a:rPr>
              <a:t>, </a:t>
            </a:r>
            <a:r>
              <a:rPr sz="2400" dirty="0" err="1">
                <a:solidFill>
                  <a:srgbClr val="CCE0FF"/>
                </a:solidFill>
              </a:rPr>
              <a:t>ссылок</a:t>
            </a:r>
            <a:r>
              <a:rPr sz="2400" dirty="0">
                <a:solidFill>
                  <a:srgbClr val="CCE0FF"/>
                </a:solidFill>
              </a:rPr>
              <a:t> и </a:t>
            </a:r>
            <a:r>
              <a:rPr sz="2400" dirty="0" err="1">
                <a:solidFill>
                  <a:srgbClr val="CCE0FF"/>
                </a:solidFill>
              </a:rPr>
              <a:t>переходов</a:t>
            </a:r>
            <a:r>
              <a:rPr sz="2400" dirty="0">
                <a:solidFill>
                  <a:srgbClr val="CCE0FF"/>
                </a:solidFill>
              </a:rPr>
              <a:t> </a:t>
            </a:r>
            <a:r>
              <a:rPr sz="2400" dirty="0" err="1">
                <a:solidFill>
                  <a:srgbClr val="CCE0FF"/>
                </a:solidFill>
              </a:rPr>
              <a:t>между</a:t>
            </a:r>
            <a:r>
              <a:rPr sz="2400" dirty="0">
                <a:solidFill>
                  <a:srgbClr val="CCE0FF"/>
                </a:solidFill>
              </a:rPr>
              <a:t> </a:t>
            </a:r>
            <a:r>
              <a:rPr sz="2400" dirty="0" err="1">
                <a:solidFill>
                  <a:srgbClr val="CCE0FF"/>
                </a:solidFill>
              </a:rPr>
              <a:t>страницами</a:t>
            </a:r>
            <a:endParaRPr sz="2400" dirty="0">
              <a:solidFill>
                <a:srgbClr val="CCE0FF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121" y="2524978"/>
            <a:ext cx="8027640" cy="1338413"/>
          </a:xfrm>
          <a:prstGeom prst="rect">
            <a:avLst/>
          </a:prstGeom>
          <a:solidFill>
            <a:srgbClr val="15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14" name="TextBox 13"/>
          <p:cNvSpPr txBox="1"/>
          <p:nvPr/>
        </p:nvSpPr>
        <p:spPr>
          <a:xfrm>
            <a:off x="321150" y="2570720"/>
            <a:ext cx="30224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 err="1">
                <a:solidFill>
                  <a:srgbClr val="FFFFFF"/>
                </a:solidFill>
              </a:rPr>
              <a:t>Интеграционное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24" y="2965399"/>
            <a:ext cx="82850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dirty="0" err="1">
                <a:solidFill>
                  <a:srgbClr val="CCE0FF"/>
                </a:solidFill>
              </a:rPr>
              <a:t>Проверка</a:t>
            </a:r>
            <a:r>
              <a:rPr sz="2400" dirty="0">
                <a:solidFill>
                  <a:srgbClr val="CCE0FF"/>
                </a:solidFill>
              </a:rPr>
              <a:t> </a:t>
            </a:r>
            <a:r>
              <a:rPr sz="2400" dirty="0" err="1">
                <a:solidFill>
                  <a:srgbClr val="CCE0FF"/>
                </a:solidFill>
              </a:rPr>
              <a:t>взаимодействия</a:t>
            </a:r>
            <a:r>
              <a:rPr sz="2400" dirty="0">
                <a:solidFill>
                  <a:srgbClr val="CCE0FF"/>
                </a:solidFill>
              </a:rPr>
              <a:t> </a:t>
            </a:r>
            <a:r>
              <a:rPr sz="2400" dirty="0" err="1">
                <a:solidFill>
                  <a:srgbClr val="CCE0FF"/>
                </a:solidFill>
              </a:rPr>
              <a:t>компонентов</a:t>
            </a:r>
            <a:r>
              <a:rPr sz="2400" dirty="0">
                <a:solidFill>
                  <a:srgbClr val="CCE0FF"/>
                </a:solidFill>
              </a:rPr>
              <a:t>: </a:t>
            </a:r>
            <a:r>
              <a:rPr sz="2400" dirty="0" err="1">
                <a:solidFill>
                  <a:srgbClr val="CCE0FF"/>
                </a:solidFill>
              </a:rPr>
              <a:t>успешная</a:t>
            </a:r>
            <a:r>
              <a:rPr sz="2400" dirty="0">
                <a:solidFill>
                  <a:srgbClr val="CCE0FF"/>
                </a:solidFill>
              </a:rPr>
              <a:t> </a:t>
            </a:r>
            <a:r>
              <a:rPr sz="2400" dirty="0" err="1">
                <a:solidFill>
                  <a:srgbClr val="CCE0FF"/>
                </a:solidFill>
              </a:rPr>
              <a:t>отправка</a:t>
            </a:r>
            <a:r>
              <a:rPr sz="2400" dirty="0">
                <a:solidFill>
                  <a:srgbClr val="CCE0FF"/>
                </a:solidFill>
              </a:rPr>
              <a:t> </a:t>
            </a:r>
            <a:r>
              <a:rPr sz="2400" dirty="0" err="1">
                <a:solidFill>
                  <a:srgbClr val="CCE0FF"/>
                </a:solidFill>
              </a:rPr>
              <a:t>формы</a:t>
            </a:r>
            <a:r>
              <a:rPr sz="2400" dirty="0">
                <a:solidFill>
                  <a:srgbClr val="CCE0FF"/>
                </a:solidFill>
              </a:rPr>
              <a:t> </a:t>
            </a:r>
            <a:r>
              <a:rPr sz="2400" dirty="0" err="1">
                <a:solidFill>
                  <a:srgbClr val="CCE0FF"/>
                </a:solidFill>
              </a:rPr>
              <a:t>записи</a:t>
            </a:r>
            <a:r>
              <a:rPr sz="2400" dirty="0">
                <a:solidFill>
                  <a:srgbClr val="CCE0FF"/>
                </a:solidFill>
              </a:rPr>
              <a:t> с </a:t>
            </a:r>
            <a:r>
              <a:rPr sz="2400" dirty="0" err="1">
                <a:solidFill>
                  <a:srgbClr val="CCE0FF"/>
                </a:solidFill>
              </a:rPr>
              <a:t>появлением</a:t>
            </a:r>
            <a:r>
              <a:rPr sz="2400" dirty="0">
                <a:solidFill>
                  <a:srgbClr val="CCE0FF"/>
                </a:solidFill>
              </a:rPr>
              <a:t> </a:t>
            </a:r>
            <a:r>
              <a:rPr sz="2400" dirty="0" err="1">
                <a:solidFill>
                  <a:srgbClr val="CCE0FF"/>
                </a:solidFill>
              </a:rPr>
              <a:t>сообщения</a:t>
            </a:r>
            <a:r>
              <a:rPr sz="2400" dirty="0">
                <a:solidFill>
                  <a:srgbClr val="CCE0FF"/>
                </a:solidFill>
              </a:rPr>
              <a:t> </a:t>
            </a:r>
            <a:r>
              <a:rPr sz="2400" dirty="0" err="1">
                <a:solidFill>
                  <a:srgbClr val="CCE0FF"/>
                </a:solidFill>
              </a:rPr>
              <a:t>об</a:t>
            </a:r>
            <a:r>
              <a:rPr sz="2400" dirty="0">
                <a:solidFill>
                  <a:srgbClr val="CCE0FF"/>
                </a:solidFill>
              </a:rPr>
              <a:t> </a:t>
            </a:r>
            <a:r>
              <a:rPr sz="2400" dirty="0" err="1">
                <a:solidFill>
                  <a:srgbClr val="CCE0FF"/>
                </a:solidFill>
              </a:rPr>
              <a:t>успехе</a:t>
            </a:r>
            <a:endParaRPr sz="2400" dirty="0">
              <a:solidFill>
                <a:srgbClr val="CCE0FF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3121" y="3976626"/>
            <a:ext cx="8027640" cy="1338414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 dirty="0"/>
          </a:p>
        </p:txBody>
      </p:sp>
      <p:sp>
        <p:nvSpPr>
          <p:cNvPr id="18" name="TextBox 17"/>
          <p:cNvSpPr txBox="1"/>
          <p:nvPr/>
        </p:nvSpPr>
        <p:spPr>
          <a:xfrm>
            <a:off x="321151" y="4048207"/>
            <a:ext cx="30224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UI-</a:t>
            </a:r>
            <a:r>
              <a:rPr sz="2800" b="1" dirty="0" err="1">
                <a:solidFill>
                  <a:srgbClr val="FFFFFF"/>
                </a:solidFill>
              </a:rPr>
              <a:t>тестирование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24" y="4428746"/>
            <a:ext cx="80297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dirty="0" err="1">
                <a:solidFill>
                  <a:srgbClr val="CCE0FF"/>
                </a:solidFill>
              </a:rPr>
              <a:t>Проверка</a:t>
            </a:r>
            <a:r>
              <a:rPr sz="2400" dirty="0">
                <a:solidFill>
                  <a:srgbClr val="CCE0FF"/>
                </a:solidFill>
              </a:rPr>
              <a:t> </a:t>
            </a:r>
            <a:r>
              <a:rPr sz="2400" dirty="0" err="1">
                <a:solidFill>
                  <a:srgbClr val="CCE0FF"/>
                </a:solidFill>
              </a:rPr>
              <a:t>отображения</a:t>
            </a:r>
            <a:r>
              <a:rPr sz="2400" dirty="0">
                <a:solidFill>
                  <a:srgbClr val="CCE0FF"/>
                </a:solidFill>
              </a:rPr>
              <a:t> </a:t>
            </a:r>
            <a:r>
              <a:rPr sz="2400" dirty="0" err="1">
                <a:solidFill>
                  <a:srgbClr val="CCE0FF"/>
                </a:solidFill>
              </a:rPr>
              <a:t>элементов</a:t>
            </a:r>
            <a:r>
              <a:rPr sz="2400" dirty="0">
                <a:solidFill>
                  <a:srgbClr val="CCE0FF"/>
                </a:solidFill>
              </a:rPr>
              <a:t> </a:t>
            </a:r>
            <a:r>
              <a:rPr sz="2400" dirty="0" err="1">
                <a:solidFill>
                  <a:srgbClr val="CCE0FF"/>
                </a:solidFill>
              </a:rPr>
              <a:t>интерфейса</a:t>
            </a:r>
            <a:r>
              <a:rPr sz="2400" dirty="0">
                <a:solidFill>
                  <a:srgbClr val="CCE0FF"/>
                </a:solidFill>
              </a:rPr>
              <a:t>: </a:t>
            </a:r>
            <a:r>
              <a:rPr sz="2400" dirty="0" err="1">
                <a:solidFill>
                  <a:srgbClr val="CCE0FF"/>
                </a:solidFill>
              </a:rPr>
              <a:t>видимость</a:t>
            </a:r>
            <a:r>
              <a:rPr sz="2400" dirty="0">
                <a:solidFill>
                  <a:srgbClr val="CCE0FF"/>
                </a:solidFill>
              </a:rPr>
              <a:t> </a:t>
            </a:r>
            <a:r>
              <a:rPr sz="2400" dirty="0" err="1">
                <a:solidFill>
                  <a:srgbClr val="CCE0FF"/>
                </a:solidFill>
              </a:rPr>
              <a:t>логотипа</a:t>
            </a:r>
            <a:r>
              <a:rPr sz="2400" dirty="0">
                <a:solidFill>
                  <a:srgbClr val="CCE0FF"/>
                </a:solidFill>
              </a:rPr>
              <a:t>, </a:t>
            </a:r>
            <a:r>
              <a:rPr sz="2400" dirty="0" err="1">
                <a:solidFill>
                  <a:srgbClr val="CCE0FF"/>
                </a:solidFill>
              </a:rPr>
              <a:t>заголовков</a:t>
            </a:r>
            <a:r>
              <a:rPr sz="2400" dirty="0">
                <a:solidFill>
                  <a:srgbClr val="CCE0FF"/>
                </a:solidFill>
              </a:rPr>
              <a:t>, </a:t>
            </a:r>
            <a:r>
              <a:rPr sz="2400" dirty="0" err="1">
                <a:solidFill>
                  <a:srgbClr val="CCE0FF"/>
                </a:solidFill>
              </a:rPr>
              <a:t>кнопок</a:t>
            </a:r>
            <a:r>
              <a:rPr sz="2400" dirty="0">
                <a:solidFill>
                  <a:srgbClr val="CCE0FF"/>
                </a:solidFill>
              </a:rPr>
              <a:t>, </a:t>
            </a:r>
            <a:r>
              <a:rPr sz="2400" dirty="0" err="1">
                <a:solidFill>
                  <a:srgbClr val="CCE0FF"/>
                </a:solidFill>
              </a:rPr>
              <a:t>карточек</a:t>
            </a:r>
            <a:r>
              <a:rPr sz="2400" dirty="0">
                <a:solidFill>
                  <a:srgbClr val="CCE0FF"/>
                </a:solidFill>
              </a:rPr>
              <a:t> </a:t>
            </a:r>
            <a:r>
              <a:rPr sz="2400" dirty="0" err="1">
                <a:solidFill>
                  <a:srgbClr val="CCE0FF"/>
                </a:solidFill>
              </a:rPr>
              <a:t>врачей</a:t>
            </a:r>
            <a:endParaRPr sz="2400" dirty="0">
              <a:solidFill>
                <a:srgbClr val="CCE0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1230" y="5381812"/>
            <a:ext cx="76877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 dirty="0" err="1">
                <a:solidFill>
                  <a:srgbClr val="444455"/>
                </a:solidFill>
              </a:rPr>
              <a:t>Метод</a:t>
            </a:r>
            <a:r>
              <a:rPr sz="1600" i="1" dirty="0">
                <a:solidFill>
                  <a:srgbClr val="444455"/>
                </a:solidFill>
              </a:rPr>
              <a:t> «</a:t>
            </a:r>
            <a:r>
              <a:rPr sz="1600" i="1" dirty="0" err="1">
                <a:solidFill>
                  <a:srgbClr val="444455"/>
                </a:solidFill>
              </a:rPr>
              <a:t>чёрного</a:t>
            </a:r>
            <a:r>
              <a:rPr sz="1600" i="1" dirty="0">
                <a:solidFill>
                  <a:srgbClr val="444455"/>
                </a:solidFill>
              </a:rPr>
              <a:t> </a:t>
            </a:r>
            <a:r>
              <a:rPr sz="1600" i="1" dirty="0" err="1">
                <a:solidFill>
                  <a:srgbClr val="444455"/>
                </a:solidFill>
              </a:rPr>
              <a:t>ящика</a:t>
            </a:r>
            <a:r>
              <a:rPr sz="1600" i="1" dirty="0">
                <a:solidFill>
                  <a:srgbClr val="444455"/>
                </a:solidFill>
              </a:rPr>
              <a:t>» — </a:t>
            </a:r>
            <a:r>
              <a:rPr sz="1600" i="1" dirty="0" err="1">
                <a:solidFill>
                  <a:srgbClr val="444455"/>
                </a:solidFill>
              </a:rPr>
              <a:t>тестировщик</a:t>
            </a:r>
            <a:r>
              <a:rPr sz="1600" i="1" dirty="0">
                <a:solidFill>
                  <a:srgbClr val="444455"/>
                </a:solidFill>
              </a:rPr>
              <a:t> </a:t>
            </a:r>
            <a:r>
              <a:rPr sz="1600" i="1" dirty="0" err="1">
                <a:solidFill>
                  <a:srgbClr val="444455"/>
                </a:solidFill>
              </a:rPr>
              <a:t>взаимодействует</a:t>
            </a:r>
            <a:r>
              <a:rPr sz="1600" i="1" dirty="0">
                <a:solidFill>
                  <a:srgbClr val="444455"/>
                </a:solidFill>
              </a:rPr>
              <a:t> с </a:t>
            </a:r>
            <a:r>
              <a:rPr sz="1600" i="1" dirty="0" err="1">
                <a:solidFill>
                  <a:srgbClr val="444455"/>
                </a:solidFill>
              </a:rPr>
              <a:t>интерфейсом</a:t>
            </a:r>
            <a:r>
              <a:rPr sz="1600" i="1" dirty="0">
                <a:solidFill>
                  <a:srgbClr val="444455"/>
                </a:solidFill>
              </a:rPr>
              <a:t>, </a:t>
            </a:r>
            <a:r>
              <a:rPr sz="1600" i="1" dirty="0" err="1">
                <a:solidFill>
                  <a:srgbClr val="444455"/>
                </a:solidFill>
              </a:rPr>
              <a:t>не</a:t>
            </a:r>
            <a:r>
              <a:rPr sz="1600" i="1" dirty="0">
                <a:solidFill>
                  <a:srgbClr val="444455"/>
                </a:solidFill>
              </a:rPr>
              <a:t> </a:t>
            </a:r>
            <a:r>
              <a:rPr sz="1600" i="1" dirty="0" err="1">
                <a:solidFill>
                  <a:srgbClr val="444455"/>
                </a:solidFill>
              </a:rPr>
              <a:t>имея</a:t>
            </a:r>
            <a:r>
              <a:rPr sz="1600" i="1" dirty="0">
                <a:solidFill>
                  <a:srgbClr val="444455"/>
                </a:solidFill>
              </a:rPr>
              <a:t> </a:t>
            </a:r>
            <a:r>
              <a:rPr sz="1600" i="1" dirty="0" err="1">
                <a:solidFill>
                  <a:srgbClr val="444455"/>
                </a:solidFill>
              </a:rPr>
              <a:t>доступа</a:t>
            </a:r>
            <a:r>
              <a:rPr sz="1600" i="1" dirty="0">
                <a:solidFill>
                  <a:srgbClr val="444455"/>
                </a:solidFill>
              </a:rPr>
              <a:t> к </a:t>
            </a:r>
            <a:r>
              <a:rPr sz="1600" i="1" dirty="0" err="1">
                <a:solidFill>
                  <a:srgbClr val="444455"/>
                </a:solidFill>
              </a:rPr>
              <a:t>исходному</a:t>
            </a:r>
            <a:r>
              <a:rPr sz="1600" i="1" dirty="0">
                <a:solidFill>
                  <a:srgbClr val="444455"/>
                </a:solidFill>
              </a:rPr>
              <a:t> </a:t>
            </a:r>
            <a:r>
              <a:rPr sz="1600" i="1" dirty="0" err="1">
                <a:solidFill>
                  <a:srgbClr val="444455"/>
                </a:solidFill>
              </a:rPr>
              <a:t>коду</a:t>
            </a:r>
            <a:r>
              <a:rPr sz="1600" i="1" dirty="0">
                <a:solidFill>
                  <a:srgbClr val="444455"/>
                </a:solidFill>
              </a:rPr>
              <a:t>.</a:t>
            </a:r>
          </a:p>
        </p:txBody>
      </p:sp>
      <p:sp>
        <p:nvSpPr>
          <p:cNvPr id="26" name="Rectangle 4">
            <a:extLst>
              <a:ext uri="{FF2B5EF4-FFF2-40B4-BE49-F238E27FC236}">
                <a16:creationId xmlns:a16="http://schemas.microsoft.com/office/drawing/2014/main" id="{D5EA7ED6-DD3C-408D-D8A4-C8CF71E6F169}"/>
              </a:ext>
            </a:extLst>
          </p:cNvPr>
          <p:cNvSpPr/>
          <p:nvPr/>
        </p:nvSpPr>
        <p:spPr>
          <a:xfrm>
            <a:off x="0" y="920523"/>
            <a:ext cx="8167617" cy="45719"/>
          </a:xfrm>
          <a:prstGeom prst="rect">
            <a:avLst/>
          </a:prstGeom>
          <a:solidFill>
            <a:srgbClr val="009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551261"/>
            <a:ext cx="8159748" cy="556855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3" name="Rectangle 2"/>
          <p:cNvSpPr/>
          <p:nvPr/>
        </p:nvSpPr>
        <p:spPr>
          <a:xfrm>
            <a:off x="1" y="1846"/>
            <a:ext cx="8167616" cy="9329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4" name="TextBox 3"/>
          <p:cNvSpPr txBox="1"/>
          <p:nvPr/>
        </p:nvSpPr>
        <p:spPr>
          <a:xfrm>
            <a:off x="165744" y="165897"/>
            <a:ext cx="79940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 err="1">
                <a:solidFill>
                  <a:srgbClr val="FFFFFF"/>
                </a:solidFill>
              </a:rPr>
              <a:t>Ручное</a:t>
            </a:r>
            <a:r>
              <a:rPr sz="2800" b="1" dirty="0">
                <a:solidFill>
                  <a:srgbClr val="FFFFFF"/>
                </a:solidFill>
              </a:rPr>
              <a:t> vs </a:t>
            </a:r>
            <a:r>
              <a:rPr sz="2800" b="1" dirty="0" err="1">
                <a:solidFill>
                  <a:srgbClr val="FFFFFF"/>
                </a:solidFill>
              </a:rPr>
              <a:t>Автоматизированное</a:t>
            </a:r>
            <a:r>
              <a:rPr sz="2800" b="1" dirty="0">
                <a:solidFill>
                  <a:srgbClr val="FFFFFF"/>
                </a:solidFill>
              </a:rPr>
              <a:t> </a:t>
            </a:r>
            <a:r>
              <a:rPr sz="2800" b="1" dirty="0" err="1">
                <a:solidFill>
                  <a:srgbClr val="FFFFFF"/>
                </a:solidFill>
              </a:rPr>
              <a:t>тестирование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920523"/>
            <a:ext cx="8175484" cy="45719"/>
          </a:xfrm>
          <a:prstGeom prst="rect">
            <a:avLst/>
          </a:prstGeom>
          <a:solidFill>
            <a:srgbClr val="009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6" name="Rectangle 5"/>
          <p:cNvSpPr/>
          <p:nvPr/>
        </p:nvSpPr>
        <p:spPr>
          <a:xfrm>
            <a:off x="2" y="5910517"/>
            <a:ext cx="8159748" cy="209296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8" name="TextBox 7"/>
          <p:cNvSpPr txBox="1"/>
          <p:nvPr/>
        </p:nvSpPr>
        <p:spPr>
          <a:xfrm>
            <a:off x="7857173" y="5847800"/>
            <a:ext cx="2764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400" dirty="0">
                <a:solidFill>
                  <a:srgbClr val="009BD8"/>
                </a:solidFill>
              </a:rPr>
              <a:t>7</a:t>
            </a:r>
            <a:endParaRPr sz="1400" dirty="0">
              <a:solidFill>
                <a:srgbClr val="009BD8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5328" y="1551419"/>
            <a:ext cx="3783840" cy="4205553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10" name="Rectangle 9"/>
          <p:cNvSpPr/>
          <p:nvPr/>
        </p:nvSpPr>
        <p:spPr>
          <a:xfrm>
            <a:off x="85329" y="1066121"/>
            <a:ext cx="3800984" cy="44953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11" name="TextBox 10"/>
          <p:cNvSpPr txBox="1"/>
          <p:nvPr/>
        </p:nvSpPr>
        <p:spPr>
          <a:xfrm>
            <a:off x="274217" y="1056958"/>
            <a:ext cx="3506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</a:rPr>
              <a:t>Ручное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2400" b="1" dirty="0" err="1">
                <a:solidFill>
                  <a:srgbClr val="FFFFFF"/>
                </a:solidFill>
              </a:rPr>
              <a:t>тестирование</a:t>
            </a:r>
            <a:r>
              <a:rPr sz="2400" b="1" dirty="0">
                <a:solidFill>
                  <a:srgbClr val="FFFFFF"/>
                </a:solidFill>
              </a:rPr>
              <a:t>  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27" y="1637160"/>
            <a:ext cx="3858023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4"/>
              </a:spcBef>
            </a:pPr>
            <a:r>
              <a:rPr sz="2400" dirty="0">
                <a:solidFill>
                  <a:srgbClr val="552222"/>
                </a:solidFill>
              </a:rPr>
              <a:t>✗  </a:t>
            </a:r>
            <a:r>
              <a:rPr sz="2400" dirty="0" err="1">
                <a:solidFill>
                  <a:srgbClr val="552222"/>
                </a:solidFill>
              </a:rPr>
              <a:t>Человеческий</a:t>
            </a:r>
            <a:r>
              <a:rPr sz="2400" dirty="0">
                <a:solidFill>
                  <a:srgbClr val="552222"/>
                </a:solidFill>
              </a:rPr>
              <a:t> </a:t>
            </a:r>
            <a:r>
              <a:rPr sz="2400" dirty="0" err="1">
                <a:solidFill>
                  <a:srgbClr val="552222"/>
                </a:solidFill>
              </a:rPr>
              <a:t>фактор</a:t>
            </a:r>
            <a:r>
              <a:rPr sz="2400" dirty="0">
                <a:solidFill>
                  <a:srgbClr val="552222"/>
                </a:solidFill>
              </a:rPr>
              <a:t> — </a:t>
            </a:r>
            <a:r>
              <a:rPr sz="2400" dirty="0" err="1">
                <a:solidFill>
                  <a:srgbClr val="552222"/>
                </a:solidFill>
              </a:rPr>
              <a:t>пропуск</a:t>
            </a:r>
            <a:r>
              <a:rPr sz="2400" dirty="0">
                <a:solidFill>
                  <a:srgbClr val="552222"/>
                </a:solidFill>
              </a:rPr>
              <a:t> </a:t>
            </a:r>
            <a:r>
              <a:rPr sz="2400" dirty="0" err="1">
                <a:solidFill>
                  <a:srgbClr val="552222"/>
                </a:solidFill>
              </a:rPr>
              <a:t>ошибок</a:t>
            </a:r>
            <a:endParaRPr sz="2400" dirty="0">
              <a:solidFill>
                <a:srgbClr val="552222"/>
              </a:solidFill>
            </a:endParaRPr>
          </a:p>
          <a:p>
            <a:pPr>
              <a:spcBef>
                <a:spcPts val="604"/>
              </a:spcBef>
            </a:pPr>
            <a:r>
              <a:rPr sz="2400" dirty="0">
                <a:solidFill>
                  <a:srgbClr val="552222"/>
                </a:solidFill>
              </a:rPr>
              <a:t>✗  </a:t>
            </a:r>
            <a:r>
              <a:rPr sz="2400" dirty="0" err="1">
                <a:solidFill>
                  <a:srgbClr val="552222"/>
                </a:solidFill>
              </a:rPr>
              <a:t>Сложно</a:t>
            </a:r>
            <a:r>
              <a:rPr sz="2400" dirty="0">
                <a:solidFill>
                  <a:srgbClr val="552222"/>
                </a:solidFill>
              </a:rPr>
              <a:t> </a:t>
            </a:r>
            <a:r>
              <a:rPr sz="2400" dirty="0" err="1">
                <a:solidFill>
                  <a:srgbClr val="552222"/>
                </a:solidFill>
              </a:rPr>
              <a:t>охватить</a:t>
            </a:r>
            <a:r>
              <a:rPr sz="2400" dirty="0">
                <a:solidFill>
                  <a:srgbClr val="552222"/>
                </a:solidFill>
              </a:rPr>
              <a:t> </a:t>
            </a:r>
            <a:r>
              <a:rPr sz="2400" dirty="0" err="1">
                <a:solidFill>
                  <a:srgbClr val="552222"/>
                </a:solidFill>
              </a:rPr>
              <a:t>все</a:t>
            </a:r>
            <a:r>
              <a:rPr sz="2400" dirty="0">
                <a:solidFill>
                  <a:srgbClr val="552222"/>
                </a:solidFill>
              </a:rPr>
              <a:t> </a:t>
            </a:r>
            <a:r>
              <a:rPr sz="2400" dirty="0" err="1">
                <a:solidFill>
                  <a:srgbClr val="552222"/>
                </a:solidFill>
              </a:rPr>
              <a:t>варианты</a:t>
            </a:r>
            <a:r>
              <a:rPr sz="2400" dirty="0">
                <a:solidFill>
                  <a:srgbClr val="552222"/>
                </a:solidFill>
              </a:rPr>
              <a:t> </a:t>
            </a:r>
            <a:r>
              <a:rPr sz="2400" dirty="0" err="1">
                <a:solidFill>
                  <a:srgbClr val="552222"/>
                </a:solidFill>
              </a:rPr>
              <a:t>форм</a:t>
            </a:r>
            <a:endParaRPr sz="2400" dirty="0">
              <a:solidFill>
                <a:srgbClr val="552222"/>
              </a:solidFill>
            </a:endParaRPr>
          </a:p>
          <a:p>
            <a:pPr>
              <a:spcBef>
                <a:spcPts val="604"/>
              </a:spcBef>
            </a:pPr>
            <a:r>
              <a:rPr sz="2400" dirty="0">
                <a:solidFill>
                  <a:srgbClr val="552222"/>
                </a:solidFill>
              </a:rPr>
              <a:t>✗  </a:t>
            </a:r>
            <a:r>
              <a:rPr lang="ru-RU" sz="2400" dirty="0">
                <a:solidFill>
                  <a:srgbClr val="552222"/>
                </a:solidFill>
              </a:rPr>
              <a:t>Масштабирование- тяжело при ручном </a:t>
            </a:r>
            <a:r>
              <a:rPr lang="ru-RU" sz="2400" dirty="0" err="1">
                <a:solidFill>
                  <a:srgbClr val="552222"/>
                </a:solidFill>
              </a:rPr>
              <a:t>тестировнии</a:t>
            </a:r>
            <a:endParaRPr lang="ru-RU" sz="2400" dirty="0">
              <a:solidFill>
                <a:srgbClr val="552222"/>
              </a:solidFill>
            </a:endParaRPr>
          </a:p>
          <a:p>
            <a:pPr>
              <a:spcBef>
                <a:spcPts val="604"/>
              </a:spcBef>
            </a:pPr>
            <a:r>
              <a:rPr sz="2400" dirty="0">
                <a:solidFill>
                  <a:srgbClr val="552222"/>
                </a:solidFill>
              </a:rPr>
              <a:t>✗  </a:t>
            </a:r>
            <a:r>
              <a:rPr sz="2400" dirty="0" err="1">
                <a:solidFill>
                  <a:srgbClr val="552222"/>
                </a:solidFill>
              </a:rPr>
              <a:t>Регрессия</a:t>
            </a:r>
            <a:r>
              <a:rPr lang="ru-RU" sz="2400" dirty="0">
                <a:solidFill>
                  <a:srgbClr val="552222"/>
                </a:solidFill>
              </a:rPr>
              <a:t> и релизы</a:t>
            </a:r>
            <a:r>
              <a:rPr sz="2400" dirty="0">
                <a:solidFill>
                  <a:srgbClr val="552222"/>
                </a:solidFill>
              </a:rPr>
              <a:t> </a:t>
            </a:r>
            <a:r>
              <a:rPr sz="2400" dirty="0" err="1">
                <a:solidFill>
                  <a:srgbClr val="552222"/>
                </a:solidFill>
              </a:rPr>
              <a:t>занима</a:t>
            </a:r>
            <a:r>
              <a:rPr lang="ru-RU" sz="2400" dirty="0">
                <a:solidFill>
                  <a:srgbClr val="552222"/>
                </a:solidFill>
              </a:rPr>
              <a:t>ю</a:t>
            </a:r>
            <a:r>
              <a:rPr sz="2400" dirty="0">
                <a:solidFill>
                  <a:srgbClr val="552222"/>
                </a:solidFill>
              </a:rPr>
              <a:t>т </a:t>
            </a:r>
            <a:r>
              <a:rPr sz="2400" dirty="0" err="1">
                <a:solidFill>
                  <a:srgbClr val="552222"/>
                </a:solidFill>
              </a:rPr>
              <a:t>часы</a:t>
            </a:r>
            <a:r>
              <a:rPr sz="2400" dirty="0">
                <a:solidFill>
                  <a:srgbClr val="552222"/>
                </a:solidFill>
              </a:rPr>
              <a:t> </a:t>
            </a:r>
            <a:r>
              <a:rPr sz="2400" dirty="0" err="1">
                <a:solidFill>
                  <a:srgbClr val="552222"/>
                </a:solidFill>
              </a:rPr>
              <a:t>работы</a:t>
            </a:r>
            <a:endParaRPr sz="2400" dirty="0">
              <a:solidFill>
                <a:srgbClr val="552222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21138" y="1551419"/>
            <a:ext cx="3707792" cy="4205553"/>
          </a:xfrm>
          <a:prstGeom prst="rect">
            <a:avLst/>
          </a:prstGeom>
          <a:solidFill>
            <a:srgbClr val="E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14" name="Rectangle 13"/>
          <p:cNvSpPr/>
          <p:nvPr/>
        </p:nvSpPr>
        <p:spPr>
          <a:xfrm>
            <a:off x="4332523" y="1066120"/>
            <a:ext cx="3707792" cy="449535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15" name="TextBox 14"/>
          <p:cNvSpPr txBox="1"/>
          <p:nvPr/>
        </p:nvSpPr>
        <p:spPr>
          <a:xfrm>
            <a:off x="4857322" y="1030356"/>
            <a:ext cx="30469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</a:rPr>
              <a:t>Автоматизация</a:t>
            </a:r>
            <a:r>
              <a:rPr sz="2400" b="1" dirty="0">
                <a:solidFill>
                  <a:srgbClr val="FFFFFF"/>
                </a:solidFill>
              </a:rPr>
              <a:t>  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2315" y="1540270"/>
            <a:ext cx="3617797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4"/>
              </a:spcBef>
            </a:pPr>
            <a:r>
              <a:rPr sz="2400" dirty="0">
                <a:solidFill>
                  <a:srgbClr val="144A28"/>
                </a:solidFill>
              </a:rPr>
              <a:t>✓  </a:t>
            </a:r>
            <a:r>
              <a:rPr sz="2400" dirty="0" err="1">
                <a:solidFill>
                  <a:srgbClr val="144A28"/>
                </a:solidFill>
              </a:rPr>
              <a:t>Повторный</a:t>
            </a:r>
            <a:r>
              <a:rPr sz="2400" dirty="0">
                <a:solidFill>
                  <a:srgbClr val="144A28"/>
                </a:solidFill>
              </a:rPr>
              <a:t> </a:t>
            </a:r>
            <a:r>
              <a:rPr sz="2400" dirty="0" err="1">
                <a:solidFill>
                  <a:srgbClr val="144A28"/>
                </a:solidFill>
              </a:rPr>
              <a:t>запуск</a:t>
            </a:r>
            <a:r>
              <a:rPr sz="2400" dirty="0">
                <a:solidFill>
                  <a:srgbClr val="144A28"/>
                </a:solidFill>
              </a:rPr>
              <a:t> </a:t>
            </a:r>
            <a:r>
              <a:rPr sz="2400" dirty="0" err="1">
                <a:solidFill>
                  <a:srgbClr val="144A28"/>
                </a:solidFill>
              </a:rPr>
              <a:t>за</a:t>
            </a:r>
            <a:r>
              <a:rPr sz="2400" dirty="0">
                <a:solidFill>
                  <a:srgbClr val="144A28"/>
                </a:solidFill>
              </a:rPr>
              <a:t> </a:t>
            </a:r>
            <a:r>
              <a:rPr sz="2400" dirty="0" err="1">
                <a:solidFill>
                  <a:srgbClr val="144A28"/>
                </a:solidFill>
              </a:rPr>
              <a:t>секунды</a:t>
            </a:r>
            <a:endParaRPr sz="2400" dirty="0">
              <a:solidFill>
                <a:srgbClr val="144A28"/>
              </a:solidFill>
            </a:endParaRPr>
          </a:p>
          <a:p>
            <a:pPr>
              <a:spcBef>
                <a:spcPts val="604"/>
              </a:spcBef>
            </a:pPr>
            <a:r>
              <a:rPr sz="2400" dirty="0">
                <a:solidFill>
                  <a:srgbClr val="144A28"/>
                </a:solidFill>
              </a:rPr>
              <a:t>✓  </a:t>
            </a:r>
            <a:r>
              <a:rPr sz="2400" dirty="0" err="1">
                <a:solidFill>
                  <a:srgbClr val="144A28"/>
                </a:solidFill>
              </a:rPr>
              <a:t>Проверка</a:t>
            </a:r>
            <a:r>
              <a:rPr sz="2400" dirty="0">
                <a:solidFill>
                  <a:srgbClr val="144A28"/>
                </a:solidFill>
              </a:rPr>
              <a:t> </a:t>
            </a:r>
            <a:r>
              <a:rPr sz="2400" dirty="0" err="1">
                <a:solidFill>
                  <a:srgbClr val="144A28"/>
                </a:solidFill>
              </a:rPr>
              <a:t>всех</a:t>
            </a:r>
            <a:r>
              <a:rPr sz="2400" dirty="0">
                <a:solidFill>
                  <a:srgbClr val="144A28"/>
                </a:solidFill>
              </a:rPr>
              <a:t> </a:t>
            </a:r>
            <a:r>
              <a:rPr sz="2400" dirty="0" err="1">
                <a:solidFill>
                  <a:srgbClr val="144A28"/>
                </a:solidFill>
              </a:rPr>
              <a:t>наборов</a:t>
            </a:r>
            <a:r>
              <a:rPr sz="2400" dirty="0">
                <a:solidFill>
                  <a:srgbClr val="144A28"/>
                </a:solidFill>
              </a:rPr>
              <a:t> </a:t>
            </a:r>
            <a:r>
              <a:rPr sz="2400" dirty="0" err="1">
                <a:solidFill>
                  <a:srgbClr val="144A28"/>
                </a:solidFill>
              </a:rPr>
              <a:t>данных</a:t>
            </a:r>
            <a:r>
              <a:rPr sz="2400" dirty="0">
                <a:solidFill>
                  <a:srgbClr val="144A28"/>
                </a:solidFill>
              </a:rPr>
              <a:t> </a:t>
            </a:r>
            <a:r>
              <a:rPr sz="2400" dirty="0" err="1">
                <a:solidFill>
                  <a:srgbClr val="144A28"/>
                </a:solidFill>
              </a:rPr>
              <a:t>формы</a:t>
            </a:r>
            <a:endParaRPr sz="2400" dirty="0">
              <a:solidFill>
                <a:srgbClr val="144A28"/>
              </a:solidFill>
            </a:endParaRPr>
          </a:p>
          <a:p>
            <a:pPr>
              <a:spcBef>
                <a:spcPts val="604"/>
              </a:spcBef>
            </a:pPr>
            <a:r>
              <a:rPr sz="2400" dirty="0">
                <a:solidFill>
                  <a:srgbClr val="144A28"/>
                </a:solidFill>
              </a:rPr>
              <a:t>✓  </a:t>
            </a:r>
            <a:r>
              <a:rPr sz="2400" dirty="0" err="1">
                <a:solidFill>
                  <a:srgbClr val="144A28"/>
                </a:solidFill>
              </a:rPr>
              <a:t>Лёгкое</a:t>
            </a:r>
            <a:r>
              <a:rPr sz="2400" dirty="0">
                <a:solidFill>
                  <a:srgbClr val="144A28"/>
                </a:solidFill>
              </a:rPr>
              <a:t> </a:t>
            </a:r>
            <a:r>
              <a:rPr sz="2400" dirty="0" err="1">
                <a:solidFill>
                  <a:srgbClr val="144A28"/>
                </a:solidFill>
              </a:rPr>
              <a:t>масштабирование</a:t>
            </a:r>
            <a:r>
              <a:rPr sz="2400" dirty="0">
                <a:solidFill>
                  <a:srgbClr val="144A28"/>
                </a:solidFill>
              </a:rPr>
              <a:t> </a:t>
            </a:r>
            <a:r>
              <a:rPr sz="2400" dirty="0" err="1">
                <a:solidFill>
                  <a:srgbClr val="144A28"/>
                </a:solidFill>
              </a:rPr>
              <a:t>тестов</a:t>
            </a:r>
            <a:endParaRPr sz="2400" dirty="0">
              <a:solidFill>
                <a:srgbClr val="144A28"/>
              </a:solidFill>
            </a:endParaRPr>
          </a:p>
          <a:p>
            <a:pPr>
              <a:spcBef>
                <a:spcPts val="604"/>
              </a:spcBef>
            </a:pPr>
            <a:r>
              <a:rPr sz="2400" dirty="0">
                <a:solidFill>
                  <a:srgbClr val="144A28"/>
                </a:solidFill>
              </a:rPr>
              <a:t>✓  </a:t>
            </a:r>
            <a:r>
              <a:rPr sz="2400" dirty="0" err="1">
                <a:solidFill>
                  <a:srgbClr val="144A28"/>
                </a:solidFill>
              </a:rPr>
              <a:t>Быстрая</a:t>
            </a:r>
            <a:r>
              <a:rPr sz="2400" dirty="0">
                <a:solidFill>
                  <a:srgbClr val="144A28"/>
                </a:solidFill>
              </a:rPr>
              <a:t> </a:t>
            </a:r>
            <a:r>
              <a:rPr sz="2400" dirty="0" err="1">
                <a:solidFill>
                  <a:srgbClr val="144A28"/>
                </a:solidFill>
              </a:rPr>
              <a:t>регрессия</a:t>
            </a:r>
            <a:r>
              <a:rPr sz="2400" dirty="0">
                <a:solidFill>
                  <a:srgbClr val="144A28"/>
                </a:solidFill>
              </a:rPr>
              <a:t> </a:t>
            </a:r>
            <a:r>
              <a:rPr sz="2400" dirty="0" err="1">
                <a:solidFill>
                  <a:srgbClr val="144A28"/>
                </a:solidFill>
              </a:rPr>
              <a:t>после</a:t>
            </a:r>
            <a:r>
              <a:rPr sz="2400" dirty="0">
                <a:solidFill>
                  <a:srgbClr val="144A28"/>
                </a:solidFill>
              </a:rPr>
              <a:t> </a:t>
            </a:r>
            <a:r>
              <a:rPr sz="2400" dirty="0" err="1">
                <a:solidFill>
                  <a:srgbClr val="144A28"/>
                </a:solidFill>
              </a:rPr>
              <a:t>обновлений</a:t>
            </a:r>
            <a:endParaRPr sz="2400" dirty="0">
              <a:solidFill>
                <a:srgbClr val="144A28"/>
              </a:solidFill>
            </a:endParaRPr>
          </a:p>
          <a:p>
            <a:pPr>
              <a:spcBef>
                <a:spcPts val="604"/>
              </a:spcBef>
            </a:pPr>
            <a:r>
              <a:rPr sz="2400" dirty="0">
                <a:solidFill>
                  <a:srgbClr val="144A28"/>
                </a:solidFill>
              </a:rPr>
              <a:t>✓  </a:t>
            </a:r>
            <a:r>
              <a:rPr sz="2400" dirty="0" err="1">
                <a:solidFill>
                  <a:srgbClr val="144A28"/>
                </a:solidFill>
              </a:rPr>
              <a:t>Отчёты</a:t>
            </a:r>
            <a:r>
              <a:rPr sz="2400" dirty="0">
                <a:solidFill>
                  <a:srgbClr val="144A28"/>
                </a:solidFill>
              </a:rPr>
              <a:t> Allure с </a:t>
            </a:r>
            <a:r>
              <a:rPr sz="2400" dirty="0" err="1">
                <a:solidFill>
                  <a:srgbClr val="144A28"/>
                </a:solidFill>
              </a:rPr>
              <a:t>деталями</a:t>
            </a:r>
            <a:r>
              <a:rPr sz="2400" dirty="0">
                <a:solidFill>
                  <a:srgbClr val="144A28"/>
                </a:solidFill>
              </a:rPr>
              <a:t> </a:t>
            </a:r>
            <a:r>
              <a:rPr sz="2400" dirty="0" err="1">
                <a:solidFill>
                  <a:srgbClr val="144A28"/>
                </a:solidFill>
              </a:rPr>
              <a:t>каждого</a:t>
            </a:r>
            <a:r>
              <a:rPr sz="2400" dirty="0">
                <a:solidFill>
                  <a:srgbClr val="144A28"/>
                </a:solidFill>
              </a:rPr>
              <a:t> </a:t>
            </a:r>
            <a:r>
              <a:rPr sz="2400" dirty="0" err="1">
                <a:solidFill>
                  <a:srgbClr val="144A28"/>
                </a:solidFill>
              </a:rPr>
              <a:t>шага</a:t>
            </a:r>
            <a:endParaRPr sz="2400" dirty="0">
              <a:solidFill>
                <a:srgbClr val="144A28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 rot="18857091">
            <a:off x="3884902" y="2982128"/>
            <a:ext cx="504494" cy="504494"/>
          </a:xfrm>
          <a:prstGeom prst="rect">
            <a:avLst/>
          </a:prstGeom>
          <a:solidFill>
            <a:srgbClr val="009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18" name="TextBox 17"/>
          <p:cNvSpPr txBox="1"/>
          <p:nvPr/>
        </p:nvSpPr>
        <p:spPr>
          <a:xfrm>
            <a:off x="3884902" y="3062337"/>
            <a:ext cx="504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VS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956" y="-9391"/>
            <a:ext cx="8175664" cy="6167211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3" name="Rectangle 2"/>
          <p:cNvSpPr/>
          <p:nvPr/>
        </p:nvSpPr>
        <p:spPr>
          <a:xfrm>
            <a:off x="-11246" y="-9390"/>
            <a:ext cx="8178954" cy="9329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4" name="TextBox 3"/>
          <p:cNvSpPr txBox="1"/>
          <p:nvPr/>
        </p:nvSpPr>
        <p:spPr>
          <a:xfrm>
            <a:off x="134804" y="132910"/>
            <a:ext cx="80249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 err="1">
                <a:solidFill>
                  <a:srgbClr val="FFFFFF"/>
                </a:solidFill>
              </a:rPr>
              <a:t>Стек</a:t>
            </a:r>
            <a:r>
              <a:rPr sz="2800" b="1" dirty="0">
                <a:solidFill>
                  <a:srgbClr val="FFFFFF"/>
                </a:solidFill>
              </a:rPr>
              <a:t> </a:t>
            </a:r>
            <a:r>
              <a:rPr sz="2800" b="1" dirty="0" err="1">
                <a:solidFill>
                  <a:srgbClr val="FFFFFF"/>
                </a:solidFill>
              </a:rPr>
              <a:t>технологий</a:t>
            </a:r>
            <a:r>
              <a:rPr sz="2800" b="1" dirty="0">
                <a:solidFill>
                  <a:srgbClr val="FFFFFF"/>
                </a:solidFill>
              </a:rPr>
              <a:t> </a:t>
            </a:r>
            <a:r>
              <a:rPr sz="2800" b="1" dirty="0" err="1">
                <a:solidFill>
                  <a:srgbClr val="FFFFFF"/>
                </a:solidFill>
              </a:rPr>
              <a:t>проекта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-11247" y="5915944"/>
            <a:ext cx="8178954" cy="241877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8" name="TextBox 7"/>
          <p:cNvSpPr txBox="1"/>
          <p:nvPr/>
        </p:nvSpPr>
        <p:spPr>
          <a:xfrm>
            <a:off x="7834759" y="5889351"/>
            <a:ext cx="2764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400" dirty="0">
                <a:solidFill>
                  <a:srgbClr val="009BD8"/>
                </a:solidFill>
              </a:rPr>
              <a:t>8</a:t>
            </a:r>
            <a:endParaRPr sz="1400" dirty="0">
              <a:solidFill>
                <a:srgbClr val="009BD8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8078" y="1010968"/>
            <a:ext cx="1879181" cy="4826361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10" name="TextBox 9"/>
          <p:cNvSpPr txBox="1"/>
          <p:nvPr/>
        </p:nvSpPr>
        <p:spPr>
          <a:xfrm>
            <a:off x="270030" y="998077"/>
            <a:ext cx="1492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Python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620" y="1557157"/>
            <a:ext cx="194687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 err="1">
                <a:solidFill>
                  <a:schemeClr val="bg1"/>
                </a:solidFill>
              </a:rPr>
              <a:t>Язык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програм</a:t>
            </a:r>
            <a:endParaRPr lang="ru-RU" dirty="0">
              <a:solidFill>
                <a:schemeClr val="bg1"/>
              </a:solidFill>
            </a:endParaRPr>
          </a:p>
          <a:p>
            <a:pPr algn="l"/>
            <a:r>
              <a:rPr dirty="0" err="1">
                <a:solidFill>
                  <a:schemeClr val="bg1"/>
                </a:solidFill>
              </a:rPr>
              <a:t>мирования</a:t>
            </a:r>
            <a:endParaRPr lang="ru-RU" dirty="0">
              <a:solidFill>
                <a:schemeClr val="bg1"/>
              </a:solidFill>
            </a:endParaRPr>
          </a:p>
          <a:p>
            <a:pPr algn="l"/>
            <a:r>
              <a:rPr dirty="0">
                <a:solidFill>
                  <a:schemeClr val="bg1"/>
                </a:solidFill>
              </a:rPr>
              <a:t>
</a:t>
            </a:r>
            <a:r>
              <a:rPr dirty="0" err="1">
                <a:solidFill>
                  <a:schemeClr val="bg1"/>
                </a:solidFill>
              </a:rPr>
              <a:t>Простота</a:t>
            </a:r>
            <a:r>
              <a:rPr dirty="0">
                <a:solidFill>
                  <a:schemeClr val="bg1"/>
                </a:solidFill>
              </a:rPr>
              <a:t> и </a:t>
            </a:r>
            <a:r>
              <a:rPr dirty="0" err="1">
                <a:solidFill>
                  <a:schemeClr val="bg1"/>
                </a:solidFill>
              </a:rPr>
              <a:t>читаемость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кода</a:t>
            </a:r>
            <a:r>
              <a:rPr dirty="0">
                <a:solidFill>
                  <a:schemeClr val="bg1"/>
                </a:solidFill>
              </a:rPr>
              <a:t>,</a:t>
            </a:r>
            <a:r>
              <a:rPr lang="ru-RU" dirty="0">
                <a:solidFill>
                  <a:schemeClr val="bg1"/>
                </a:solidFill>
              </a:rPr>
              <a:t> большое кол-во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библиотек</a:t>
            </a:r>
            <a:r>
              <a:rPr dirty="0">
                <a:solidFill>
                  <a:schemeClr val="bg1"/>
                </a:solidFill>
              </a:rPr>
              <a:t> , </a:t>
            </a:r>
            <a:r>
              <a:rPr dirty="0" err="1">
                <a:solidFill>
                  <a:schemeClr val="bg1"/>
                </a:solidFill>
              </a:rPr>
              <a:t>нативная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поддержка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PyTest</a:t>
            </a:r>
            <a:r>
              <a:rPr dirty="0">
                <a:solidFill>
                  <a:schemeClr val="bg1"/>
                </a:solidFill>
              </a:rPr>
              <a:t> и Playwright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18218" y="1022874"/>
            <a:ext cx="1878850" cy="482636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14" name="TextBox 13"/>
          <p:cNvSpPr txBox="1"/>
          <p:nvPr/>
        </p:nvSpPr>
        <p:spPr>
          <a:xfrm>
            <a:off x="2295643" y="1007111"/>
            <a:ext cx="1492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 err="1">
                <a:solidFill>
                  <a:srgbClr val="FFFFFF"/>
                </a:solidFill>
              </a:rPr>
              <a:t>PyTest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23937" y="1557157"/>
            <a:ext cx="167963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 err="1">
                <a:solidFill>
                  <a:schemeClr val="bg1"/>
                </a:solidFill>
              </a:rPr>
              <a:t>Фреймворк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для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тестов</a:t>
            </a:r>
            <a:endParaRPr lang="ru-RU" dirty="0">
              <a:solidFill>
                <a:schemeClr val="bg1"/>
              </a:solidFill>
            </a:endParaRPr>
          </a:p>
          <a:p>
            <a:pPr algn="l"/>
            <a:r>
              <a:rPr dirty="0">
                <a:solidFill>
                  <a:schemeClr val="bg1"/>
                </a:solidFill>
              </a:rPr>
              <a:t>
</a:t>
            </a:r>
            <a:r>
              <a:rPr dirty="0" err="1">
                <a:solidFill>
                  <a:schemeClr val="bg1"/>
                </a:solidFill>
              </a:rPr>
              <a:t>Фикстуры</a:t>
            </a:r>
            <a:r>
              <a:rPr dirty="0">
                <a:solidFill>
                  <a:schemeClr val="bg1"/>
                </a:solidFill>
              </a:rPr>
              <a:t>, </a:t>
            </a:r>
            <a:r>
              <a:rPr dirty="0" err="1">
                <a:solidFill>
                  <a:schemeClr val="bg1"/>
                </a:solidFill>
              </a:rPr>
              <a:t>параметризация</a:t>
            </a:r>
            <a:r>
              <a:rPr dirty="0">
                <a:solidFill>
                  <a:schemeClr val="bg1"/>
                </a:solidFill>
              </a:rPr>
              <a:t>, </a:t>
            </a:r>
            <a:r>
              <a:rPr dirty="0" err="1">
                <a:solidFill>
                  <a:schemeClr val="bg1"/>
                </a:solidFill>
              </a:rPr>
              <a:t>плагины</a:t>
            </a:r>
            <a:r>
              <a:rPr dirty="0">
                <a:solidFill>
                  <a:schemeClr val="bg1"/>
                </a:solidFill>
              </a:rPr>
              <a:t>, </a:t>
            </a:r>
            <a:r>
              <a:rPr dirty="0" err="1">
                <a:solidFill>
                  <a:schemeClr val="bg1"/>
                </a:solidFill>
              </a:rPr>
              <a:t>параллельный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запуск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тестов</a:t>
            </a:r>
            <a:r>
              <a:rPr dirty="0">
                <a:solidFill>
                  <a:schemeClr val="bg1"/>
                </a:solidFill>
              </a:rPr>
              <a:t>, </a:t>
            </a:r>
            <a:r>
              <a:rPr dirty="0" err="1">
                <a:solidFill>
                  <a:schemeClr val="bg1"/>
                </a:solidFill>
              </a:rPr>
              <a:t>интеграция</a:t>
            </a:r>
            <a:r>
              <a:rPr dirty="0">
                <a:solidFill>
                  <a:schemeClr val="bg1"/>
                </a:solidFill>
              </a:rPr>
              <a:t> с Allure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46969" y="1027637"/>
            <a:ext cx="1878850" cy="4809691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18" name="TextBox 17"/>
          <p:cNvSpPr txBox="1"/>
          <p:nvPr/>
        </p:nvSpPr>
        <p:spPr>
          <a:xfrm>
            <a:off x="4162684" y="998076"/>
            <a:ext cx="18189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Playwright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18318" y="1526451"/>
            <a:ext cx="176331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dirty="0">
                <a:solidFill>
                  <a:schemeClr val="bg1"/>
                </a:solidFill>
              </a:rPr>
              <a:t>А</a:t>
            </a:r>
            <a:r>
              <a:rPr dirty="0" err="1">
                <a:solidFill>
                  <a:schemeClr val="bg1"/>
                </a:solidFill>
              </a:rPr>
              <a:t>втоматизация</a:t>
            </a:r>
            <a:r>
              <a:rPr lang="ru-RU" dirty="0">
                <a:solidFill>
                  <a:schemeClr val="bg1"/>
                </a:solidFill>
              </a:rPr>
              <a:t>- 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ru-RU" dirty="0">
                <a:solidFill>
                  <a:schemeClr val="bg1"/>
                </a:solidFill>
              </a:rPr>
              <a:t>браузер</a:t>
            </a:r>
            <a:r>
              <a:rPr lang="en-US" dirty="0">
                <a:solidFill>
                  <a:schemeClr val="bg1"/>
                </a:solidFill>
              </a:rPr>
              <a:t>)</a:t>
            </a:r>
            <a:r>
              <a:rPr dirty="0">
                <a:solidFill>
                  <a:schemeClr val="bg1"/>
                </a:solidFill>
              </a:rPr>
              <a:t>
Auto-waiting, </a:t>
            </a:r>
            <a:r>
              <a:rPr dirty="0" err="1">
                <a:solidFill>
                  <a:schemeClr val="bg1"/>
                </a:solidFill>
              </a:rPr>
              <a:t>единый</a:t>
            </a:r>
            <a:r>
              <a:rPr dirty="0">
                <a:solidFill>
                  <a:schemeClr val="bg1"/>
                </a:solidFill>
              </a:rPr>
              <a:t> API </a:t>
            </a:r>
            <a:r>
              <a:rPr dirty="0" err="1">
                <a:solidFill>
                  <a:schemeClr val="bg1"/>
                </a:solidFill>
              </a:rPr>
              <a:t>для</a:t>
            </a:r>
            <a:r>
              <a:rPr dirty="0">
                <a:solidFill>
                  <a:schemeClr val="bg1"/>
                </a:solidFill>
              </a:rPr>
              <a:t> Chrome/Firefox/WebKit, </a:t>
            </a:r>
            <a:r>
              <a:rPr dirty="0" err="1">
                <a:solidFill>
                  <a:schemeClr val="bg1"/>
                </a:solidFill>
              </a:rPr>
              <a:t>без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отдельных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драйверов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164266" y="1027638"/>
            <a:ext cx="1891438" cy="4809690"/>
          </a:xfrm>
          <a:prstGeom prst="rect">
            <a:avLst/>
          </a:prstGeom>
          <a:solidFill>
            <a:srgbClr val="4A2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22" name="TextBox 21"/>
          <p:cNvSpPr txBox="1"/>
          <p:nvPr/>
        </p:nvSpPr>
        <p:spPr>
          <a:xfrm>
            <a:off x="6306661" y="1016746"/>
            <a:ext cx="1492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Allure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57568" y="1448249"/>
            <a:ext cx="1898136" cy="45719"/>
          </a:xfrm>
          <a:prstGeom prst="rect">
            <a:avLst/>
          </a:prstGeom>
          <a:solidFill>
            <a:srgbClr val="009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24" name="TextBox 23"/>
          <p:cNvSpPr txBox="1"/>
          <p:nvPr/>
        </p:nvSpPr>
        <p:spPr>
          <a:xfrm>
            <a:off x="6208842" y="1555027"/>
            <a:ext cx="174904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 err="1">
                <a:solidFill>
                  <a:schemeClr val="bg1"/>
                </a:solidFill>
              </a:rPr>
              <a:t>Отчётность</a:t>
            </a:r>
            <a:r>
              <a:rPr dirty="0">
                <a:solidFill>
                  <a:schemeClr val="bg1"/>
                </a:solidFill>
              </a:rPr>
              <a:t>
</a:t>
            </a:r>
            <a:r>
              <a:rPr dirty="0" err="1">
                <a:solidFill>
                  <a:schemeClr val="bg1"/>
                </a:solidFill>
              </a:rPr>
              <a:t>Визуальные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отчёты</a:t>
            </a:r>
            <a:r>
              <a:rPr dirty="0">
                <a:solidFill>
                  <a:schemeClr val="bg1"/>
                </a:solidFill>
              </a:rPr>
              <a:t> с </a:t>
            </a:r>
            <a:r>
              <a:rPr dirty="0" err="1">
                <a:solidFill>
                  <a:schemeClr val="bg1"/>
                </a:solidFill>
              </a:rPr>
              <a:t>шагами</a:t>
            </a:r>
            <a:r>
              <a:rPr dirty="0">
                <a:solidFill>
                  <a:schemeClr val="bg1"/>
                </a:solidFill>
              </a:rPr>
              <a:t>, </a:t>
            </a:r>
            <a:r>
              <a:rPr dirty="0" err="1">
                <a:solidFill>
                  <a:schemeClr val="bg1"/>
                </a:solidFill>
              </a:rPr>
              <a:t>описаниями</a:t>
            </a:r>
            <a:r>
              <a:rPr dirty="0">
                <a:solidFill>
                  <a:schemeClr val="bg1"/>
                </a:solidFill>
              </a:rPr>
              <a:t> и </a:t>
            </a:r>
            <a:r>
              <a:rPr dirty="0" err="1">
                <a:solidFill>
                  <a:schemeClr val="bg1"/>
                </a:solidFill>
              </a:rPr>
              <a:t>статусами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каждого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теста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556B05C5-FCC4-5BB3-60A4-DB1A322B9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935" y="4439495"/>
            <a:ext cx="1374165" cy="13148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7B56156B-B741-E0F5-E7AF-97C3B59C37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894" y="4439495"/>
            <a:ext cx="1374165" cy="13100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CF556A67-90FB-F24D-C545-BA2F0FCC3D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3877" y="4433741"/>
            <a:ext cx="1376550" cy="13100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Рисунок 33" descr="Полное руководство по Python 3: от новичка до профессионала – Stepik">
            <a:extLst>
              <a:ext uri="{FF2B5EF4-FFF2-40B4-BE49-F238E27FC236}">
                <a16:creationId xmlns:a16="http://schemas.microsoft.com/office/drawing/2014/main" id="{64492FDE-EBEA-4EE2-5F9F-21D42FFF8B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586" y="4447217"/>
            <a:ext cx="1374164" cy="1310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F5C42813-EE37-E8D0-BD48-D054CC87EF8E}"/>
              </a:ext>
            </a:extLst>
          </p:cNvPr>
          <p:cNvSpPr/>
          <p:nvPr/>
        </p:nvSpPr>
        <p:spPr>
          <a:xfrm>
            <a:off x="-11246" y="920523"/>
            <a:ext cx="8178863" cy="45719"/>
          </a:xfrm>
          <a:prstGeom prst="rect">
            <a:avLst/>
          </a:prstGeom>
          <a:solidFill>
            <a:srgbClr val="009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39" name="Rectangle 22">
            <a:extLst>
              <a:ext uri="{FF2B5EF4-FFF2-40B4-BE49-F238E27FC236}">
                <a16:creationId xmlns:a16="http://schemas.microsoft.com/office/drawing/2014/main" id="{54E0BD0B-C660-757E-7D51-A0A7C2148B49}"/>
              </a:ext>
            </a:extLst>
          </p:cNvPr>
          <p:cNvSpPr/>
          <p:nvPr/>
        </p:nvSpPr>
        <p:spPr>
          <a:xfrm>
            <a:off x="4146969" y="1448249"/>
            <a:ext cx="1878850" cy="45719"/>
          </a:xfrm>
          <a:prstGeom prst="rect">
            <a:avLst/>
          </a:prstGeom>
          <a:solidFill>
            <a:srgbClr val="009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40" name="Rectangle 22">
            <a:extLst>
              <a:ext uri="{FF2B5EF4-FFF2-40B4-BE49-F238E27FC236}">
                <a16:creationId xmlns:a16="http://schemas.microsoft.com/office/drawing/2014/main" id="{68281DF6-0014-04B7-75F2-452CBF2AA0D6}"/>
              </a:ext>
            </a:extLst>
          </p:cNvPr>
          <p:cNvSpPr/>
          <p:nvPr/>
        </p:nvSpPr>
        <p:spPr>
          <a:xfrm>
            <a:off x="2118218" y="1443073"/>
            <a:ext cx="1878850" cy="45719"/>
          </a:xfrm>
          <a:prstGeom prst="rect">
            <a:avLst/>
          </a:prstGeom>
          <a:solidFill>
            <a:srgbClr val="009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41" name="Rectangle 22">
            <a:extLst>
              <a:ext uri="{FF2B5EF4-FFF2-40B4-BE49-F238E27FC236}">
                <a16:creationId xmlns:a16="http://schemas.microsoft.com/office/drawing/2014/main" id="{7A52D425-A728-EC02-89A0-F46641C6642B}"/>
              </a:ext>
            </a:extLst>
          </p:cNvPr>
          <p:cNvSpPr/>
          <p:nvPr/>
        </p:nvSpPr>
        <p:spPr>
          <a:xfrm>
            <a:off x="108078" y="1454328"/>
            <a:ext cx="1878850" cy="45719"/>
          </a:xfrm>
          <a:prstGeom prst="rect">
            <a:avLst/>
          </a:prstGeom>
          <a:solidFill>
            <a:srgbClr val="009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-7010" y="553658"/>
            <a:ext cx="8159747" cy="5331141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txBody>
          <a:bodyPr/>
          <a:lstStyle/>
          <a:p>
            <a:endParaRPr sz="1360"/>
          </a:p>
        </p:txBody>
      </p:sp>
      <p:sp>
        <p:nvSpPr>
          <p:cNvPr id="3" name="header"/>
          <p:cNvSpPr/>
          <p:nvPr/>
        </p:nvSpPr>
        <p:spPr>
          <a:xfrm>
            <a:off x="2" y="-6065"/>
            <a:ext cx="8159748" cy="90396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txBody>
          <a:bodyPr/>
          <a:lstStyle/>
          <a:p>
            <a:endParaRPr sz="1360"/>
          </a:p>
        </p:txBody>
      </p:sp>
      <p:sp>
        <p:nvSpPr>
          <p:cNvPr id="4" name="title"/>
          <p:cNvSpPr txBox="1"/>
          <p:nvPr/>
        </p:nvSpPr>
        <p:spPr>
          <a:xfrm>
            <a:off x="164700" y="129693"/>
            <a:ext cx="8638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 err="1">
                <a:solidFill>
                  <a:srgbClr val="FFFFFF"/>
                </a:solidFill>
              </a:rPr>
              <a:t>Почему</a:t>
            </a:r>
            <a:r>
              <a:rPr sz="2800" b="1" dirty="0">
                <a:solidFill>
                  <a:srgbClr val="FFFFFF"/>
                </a:solidFill>
              </a:rPr>
              <a:t> Playwright, а </a:t>
            </a:r>
            <a:r>
              <a:rPr sz="2800" b="1" dirty="0" err="1">
                <a:solidFill>
                  <a:srgbClr val="FFFFFF"/>
                </a:solidFill>
              </a:rPr>
              <a:t>не</a:t>
            </a:r>
            <a:r>
              <a:rPr sz="2800" b="1" dirty="0">
                <a:solidFill>
                  <a:srgbClr val="FFFFFF"/>
                </a:solidFill>
              </a:rPr>
              <a:t> Selenium?</a:t>
            </a:r>
          </a:p>
        </p:txBody>
      </p:sp>
      <p:sp>
        <p:nvSpPr>
          <p:cNvPr id="5" name="accent_line"/>
          <p:cNvSpPr/>
          <p:nvPr/>
        </p:nvSpPr>
        <p:spPr>
          <a:xfrm>
            <a:off x="0" y="893193"/>
            <a:ext cx="8166762" cy="45719"/>
          </a:xfrm>
          <a:prstGeom prst="rect">
            <a:avLst/>
          </a:prstGeom>
          <a:solidFill>
            <a:srgbClr val="009BD8"/>
          </a:solidFill>
          <a:ln>
            <a:noFill/>
          </a:ln>
        </p:spPr>
        <p:txBody>
          <a:bodyPr/>
          <a:lstStyle/>
          <a:p>
            <a:endParaRPr sz="1360"/>
          </a:p>
        </p:txBody>
      </p:sp>
      <p:sp>
        <p:nvSpPr>
          <p:cNvPr id="6" name="footer_bar"/>
          <p:cNvSpPr/>
          <p:nvPr/>
        </p:nvSpPr>
        <p:spPr>
          <a:xfrm>
            <a:off x="2" y="5884799"/>
            <a:ext cx="8173774" cy="241881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txBody>
          <a:bodyPr/>
          <a:lstStyle/>
          <a:p>
            <a:endParaRPr sz="1360"/>
          </a:p>
        </p:txBody>
      </p:sp>
      <p:sp>
        <p:nvSpPr>
          <p:cNvPr id="8" name="page_num"/>
          <p:cNvSpPr txBox="1"/>
          <p:nvPr/>
        </p:nvSpPr>
        <p:spPr>
          <a:xfrm>
            <a:off x="7883313" y="5858707"/>
            <a:ext cx="2764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400" dirty="0">
                <a:solidFill>
                  <a:srgbClr val="009BD8"/>
                </a:solidFill>
              </a:rPr>
              <a:t>9</a:t>
            </a:r>
            <a:endParaRPr sz="1400" dirty="0">
              <a:solidFill>
                <a:srgbClr val="009BD8"/>
              </a:solidFill>
            </a:endParaRPr>
          </a:p>
        </p:txBody>
      </p:sp>
      <p:sp>
        <p:nvSpPr>
          <p:cNvPr id="10" name="card1_bg"/>
          <p:cNvSpPr/>
          <p:nvPr/>
        </p:nvSpPr>
        <p:spPr>
          <a:xfrm>
            <a:off x="50794" y="2161202"/>
            <a:ext cx="2585803" cy="3682584"/>
          </a:xfrm>
          <a:prstGeom prst="rect">
            <a:avLst/>
          </a:prstGeom>
          <a:solidFill>
            <a:srgbClr val="FFFFFF"/>
          </a:solidFill>
          <a:ln w="18000">
            <a:solidFill>
              <a:srgbClr val="009BD8"/>
            </a:solidFill>
          </a:ln>
        </p:spPr>
        <p:txBody>
          <a:bodyPr/>
          <a:lstStyle/>
          <a:p>
            <a:endParaRPr sz="1360"/>
          </a:p>
        </p:txBody>
      </p:sp>
      <p:sp>
        <p:nvSpPr>
          <p:cNvPr id="11" name="card1_top"/>
          <p:cNvSpPr/>
          <p:nvPr/>
        </p:nvSpPr>
        <p:spPr>
          <a:xfrm>
            <a:off x="40017" y="1717689"/>
            <a:ext cx="2587983" cy="414653"/>
          </a:xfrm>
          <a:prstGeom prst="rect">
            <a:avLst/>
          </a:prstGeom>
          <a:solidFill>
            <a:srgbClr val="009BD8"/>
          </a:solidFill>
          <a:ln>
            <a:noFill/>
          </a:ln>
        </p:spPr>
        <p:txBody>
          <a:bodyPr/>
          <a:lstStyle/>
          <a:p>
            <a:endParaRPr sz="1360"/>
          </a:p>
        </p:txBody>
      </p:sp>
      <p:sp>
        <p:nvSpPr>
          <p:cNvPr id="12" name="card1_icon"/>
          <p:cNvSpPr txBox="1"/>
          <p:nvPr/>
        </p:nvSpPr>
        <p:spPr>
          <a:xfrm>
            <a:off x="25988" y="1716386"/>
            <a:ext cx="2533108" cy="418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17" b="1" dirty="0">
                <a:solidFill>
                  <a:srgbClr val="FFFFFF"/>
                </a:solidFill>
              </a:rPr>
              <a:t>⏱</a:t>
            </a:r>
          </a:p>
        </p:txBody>
      </p:sp>
      <p:sp>
        <p:nvSpPr>
          <p:cNvPr id="13" name="card1_title"/>
          <p:cNvSpPr txBox="1"/>
          <p:nvPr/>
        </p:nvSpPr>
        <p:spPr>
          <a:xfrm>
            <a:off x="67843" y="2168401"/>
            <a:ext cx="252091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0D2B55"/>
                </a:solidFill>
              </a:rPr>
              <a:t>Автоматические ожидания</a:t>
            </a:r>
            <a:endParaRPr sz="2000" b="1" dirty="0">
              <a:solidFill>
                <a:srgbClr val="0D2B55"/>
              </a:solidFill>
            </a:endParaRPr>
          </a:p>
        </p:txBody>
      </p:sp>
      <p:sp>
        <p:nvSpPr>
          <p:cNvPr id="14" name="card1_body"/>
          <p:cNvSpPr txBox="1"/>
          <p:nvPr/>
        </p:nvSpPr>
        <p:spPr>
          <a:xfrm>
            <a:off x="60830" y="2914933"/>
            <a:ext cx="2462339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dirty="0">
                <a:solidFill>
                  <a:srgbClr val="444455"/>
                </a:solidFill>
              </a:rPr>
              <a:t>Playwright </a:t>
            </a:r>
            <a:r>
              <a:rPr lang="ru-RU" sz="1900" dirty="0">
                <a:solidFill>
                  <a:srgbClr val="444455"/>
                </a:solidFill>
              </a:rPr>
              <a:t> сам ждет </a:t>
            </a:r>
            <a:r>
              <a:rPr sz="1900" dirty="0" err="1">
                <a:solidFill>
                  <a:srgbClr val="444455"/>
                </a:solidFill>
              </a:rPr>
              <a:t>появления</a:t>
            </a:r>
            <a:r>
              <a:rPr sz="1900" dirty="0">
                <a:solidFill>
                  <a:srgbClr val="444455"/>
                </a:solidFill>
              </a:rPr>
              <a:t> </a:t>
            </a:r>
            <a:r>
              <a:rPr sz="1900" dirty="0" err="1">
                <a:solidFill>
                  <a:srgbClr val="444455"/>
                </a:solidFill>
              </a:rPr>
              <a:t>элементов</a:t>
            </a:r>
            <a:r>
              <a:rPr sz="1900" dirty="0">
                <a:solidFill>
                  <a:srgbClr val="444455"/>
                </a:solidFill>
              </a:rPr>
              <a:t> 
</a:t>
            </a:r>
            <a:r>
              <a:rPr sz="1900" dirty="0" err="1">
                <a:solidFill>
                  <a:srgbClr val="444455"/>
                </a:solidFill>
              </a:rPr>
              <a:t>Не</a:t>
            </a:r>
            <a:r>
              <a:rPr sz="1900" dirty="0">
                <a:solidFill>
                  <a:srgbClr val="444455"/>
                </a:solidFill>
              </a:rPr>
              <a:t> </a:t>
            </a:r>
            <a:r>
              <a:rPr sz="1900" dirty="0" err="1">
                <a:solidFill>
                  <a:srgbClr val="444455"/>
                </a:solidFill>
              </a:rPr>
              <a:t>нужны</a:t>
            </a:r>
            <a:r>
              <a:rPr sz="1900" dirty="0">
                <a:solidFill>
                  <a:srgbClr val="444455"/>
                </a:solidFill>
              </a:rPr>
              <a:t> </a:t>
            </a:r>
            <a:r>
              <a:rPr lang="en-US" sz="1900" dirty="0">
                <a:solidFill>
                  <a:srgbClr val="444455"/>
                </a:solidFill>
              </a:rPr>
              <a:t>time. </a:t>
            </a:r>
            <a:r>
              <a:rPr sz="1900" dirty="0">
                <a:solidFill>
                  <a:srgbClr val="444455"/>
                </a:solidFill>
              </a:rPr>
              <a:t>sleep() и </a:t>
            </a:r>
            <a:r>
              <a:rPr sz="1900" dirty="0" err="1">
                <a:solidFill>
                  <a:srgbClr val="444455"/>
                </a:solidFill>
              </a:rPr>
              <a:t>WebDriverWait</a:t>
            </a:r>
            <a:r>
              <a:rPr sz="1900" dirty="0">
                <a:solidFill>
                  <a:srgbClr val="444455"/>
                </a:solidFill>
              </a:rPr>
              <a:t>
</a:t>
            </a:r>
            <a:r>
              <a:rPr sz="1900" dirty="0" err="1">
                <a:solidFill>
                  <a:srgbClr val="444455"/>
                </a:solidFill>
              </a:rPr>
              <a:t>Тесты</a:t>
            </a:r>
            <a:r>
              <a:rPr sz="1900" dirty="0">
                <a:solidFill>
                  <a:srgbClr val="444455"/>
                </a:solidFill>
              </a:rPr>
              <a:t> </a:t>
            </a:r>
            <a:r>
              <a:rPr lang="ru-RU" sz="1900" dirty="0">
                <a:solidFill>
                  <a:srgbClr val="444455"/>
                </a:solidFill>
              </a:rPr>
              <a:t>не падают из-за задержек</a:t>
            </a:r>
            <a:endParaRPr sz="1900" dirty="0">
              <a:solidFill>
                <a:srgbClr val="444455"/>
              </a:solidFill>
            </a:endParaRPr>
          </a:p>
        </p:txBody>
      </p:sp>
      <p:sp>
        <p:nvSpPr>
          <p:cNvPr id="20" name="card2_bg"/>
          <p:cNvSpPr/>
          <p:nvPr/>
        </p:nvSpPr>
        <p:spPr>
          <a:xfrm>
            <a:off x="2756133" y="2152628"/>
            <a:ext cx="2586600" cy="3691158"/>
          </a:xfrm>
          <a:prstGeom prst="rect">
            <a:avLst/>
          </a:prstGeom>
          <a:solidFill>
            <a:srgbClr val="FFFFFF"/>
          </a:solidFill>
          <a:ln w="18000">
            <a:solidFill>
              <a:srgbClr val="27AE60"/>
            </a:solidFill>
          </a:ln>
        </p:spPr>
        <p:txBody>
          <a:bodyPr/>
          <a:lstStyle/>
          <a:p>
            <a:endParaRPr sz="1360"/>
          </a:p>
        </p:txBody>
      </p:sp>
      <p:sp>
        <p:nvSpPr>
          <p:cNvPr id="21" name="card2_top"/>
          <p:cNvSpPr/>
          <p:nvPr/>
        </p:nvSpPr>
        <p:spPr>
          <a:xfrm>
            <a:off x="2748137" y="1706460"/>
            <a:ext cx="2594596" cy="41465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 sz="1360"/>
          </a:p>
        </p:txBody>
      </p:sp>
      <p:sp>
        <p:nvSpPr>
          <p:cNvPr id="22" name="card2_icon"/>
          <p:cNvSpPr txBox="1"/>
          <p:nvPr/>
        </p:nvSpPr>
        <p:spPr>
          <a:xfrm>
            <a:off x="2748134" y="1710592"/>
            <a:ext cx="2392986" cy="418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17" b="1" dirty="0">
                <a:solidFill>
                  <a:srgbClr val="FFFFFF"/>
                </a:solidFill>
              </a:rPr>
              <a:t>💻</a:t>
            </a:r>
          </a:p>
        </p:txBody>
      </p:sp>
      <p:sp>
        <p:nvSpPr>
          <p:cNvPr id="23" name="card2_title"/>
          <p:cNvSpPr txBox="1"/>
          <p:nvPr/>
        </p:nvSpPr>
        <p:spPr>
          <a:xfrm>
            <a:off x="2605803" y="2222633"/>
            <a:ext cx="29100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0D2B55"/>
                </a:solidFill>
              </a:rPr>
              <a:t>Без установки драйверов</a:t>
            </a:r>
            <a:endParaRPr sz="2000" b="1" dirty="0">
              <a:solidFill>
                <a:srgbClr val="0D2B55"/>
              </a:solidFill>
            </a:endParaRPr>
          </a:p>
        </p:txBody>
      </p:sp>
      <p:sp>
        <p:nvSpPr>
          <p:cNvPr id="24" name="card2_body"/>
          <p:cNvSpPr txBox="1"/>
          <p:nvPr/>
        </p:nvSpPr>
        <p:spPr>
          <a:xfrm>
            <a:off x="2795804" y="2982388"/>
            <a:ext cx="2499261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dirty="0" err="1">
                <a:solidFill>
                  <a:srgbClr val="444455"/>
                </a:solidFill>
              </a:rPr>
              <a:t>Не</a:t>
            </a:r>
            <a:r>
              <a:rPr sz="1900" dirty="0">
                <a:solidFill>
                  <a:srgbClr val="444455"/>
                </a:solidFill>
              </a:rPr>
              <a:t> </a:t>
            </a:r>
            <a:r>
              <a:rPr sz="1900" dirty="0" err="1">
                <a:solidFill>
                  <a:srgbClr val="444455"/>
                </a:solidFill>
              </a:rPr>
              <a:t>нужно</a:t>
            </a:r>
            <a:r>
              <a:rPr sz="1900" dirty="0">
                <a:solidFill>
                  <a:srgbClr val="444455"/>
                </a:solidFill>
              </a:rPr>
              <a:t> </a:t>
            </a:r>
            <a:r>
              <a:rPr sz="1900" dirty="0" err="1">
                <a:solidFill>
                  <a:srgbClr val="444455"/>
                </a:solidFill>
              </a:rPr>
              <a:t>устанавливать</a:t>
            </a:r>
            <a:r>
              <a:rPr sz="1900" dirty="0">
                <a:solidFill>
                  <a:srgbClr val="444455"/>
                </a:solidFill>
              </a:rPr>
              <a:t> </a:t>
            </a:r>
            <a:r>
              <a:rPr sz="1900" dirty="0" err="1">
                <a:solidFill>
                  <a:srgbClr val="444455"/>
                </a:solidFill>
              </a:rPr>
              <a:t>ChromeDriver</a:t>
            </a:r>
            <a:r>
              <a:rPr sz="1900" dirty="0">
                <a:solidFill>
                  <a:srgbClr val="444455"/>
                </a:solidFill>
              </a:rPr>
              <a:t> </a:t>
            </a:r>
            <a:r>
              <a:rPr sz="1900" dirty="0" err="1">
                <a:solidFill>
                  <a:srgbClr val="444455"/>
                </a:solidFill>
              </a:rPr>
              <a:t>вручную</a:t>
            </a:r>
            <a:r>
              <a:rPr sz="1900" dirty="0">
                <a:solidFill>
                  <a:srgbClr val="444455"/>
                </a:solidFill>
              </a:rPr>
              <a:t>
Chromium, Firefox и WebKit — </a:t>
            </a:r>
            <a:r>
              <a:rPr lang="ru-RU" sz="1900" dirty="0">
                <a:solidFill>
                  <a:srgbClr val="444455"/>
                </a:solidFill>
              </a:rPr>
              <a:t>уже внутри</a:t>
            </a:r>
            <a:r>
              <a:rPr sz="1900" dirty="0">
                <a:solidFill>
                  <a:srgbClr val="444455"/>
                </a:solidFill>
              </a:rPr>
              <a:t>
</a:t>
            </a:r>
            <a:r>
              <a:rPr sz="1900" dirty="0" err="1">
                <a:solidFill>
                  <a:srgbClr val="444455"/>
                </a:solidFill>
              </a:rPr>
              <a:t>Быстрый</a:t>
            </a:r>
            <a:r>
              <a:rPr sz="1900" dirty="0">
                <a:solidFill>
                  <a:srgbClr val="444455"/>
                </a:solidFill>
              </a:rPr>
              <a:t> </a:t>
            </a:r>
            <a:r>
              <a:rPr sz="1900" dirty="0" err="1">
                <a:solidFill>
                  <a:srgbClr val="444455"/>
                </a:solidFill>
              </a:rPr>
              <a:t>старт</a:t>
            </a:r>
            <a:r>
              <a:rPr lang="ru-RU" sz="1900" dirty="0">
                <a:solidFill>
                  <a:srgbClr val="444455"/>
                </a:solidFill>
              </a:rPr>
              <a:t>, простая </a:t>
            </a:r>
            <a:r>
              <a:rPr sz="1900" dirty="0" err="1">
                <a:solidFill>
                  <a:srgbClr val="444455"/>
                </a:solidFill>
              </a:rPr>
              <a:t>настройки</a:t>
            </a:r>
            <a:endParaRPr sz="1900" dirty="0">
              <a:solidFill>
                <a:srgbClr val="444455"/>
              </a:solidFill>
            </a:endParaRPr>
          </a:p>
        </p:txBody>
      </p:sp>
      <p:sp>
        <p:nvSpPr>
          <p:cNvPr id="30" name="card3_bg"/>
          <p:cNvSpPr/>
          <p:nvPr/>
        </p:nvSpPr>
        <p:spPr>
          <a:xfrm>
            <a:off x="5436537" y="2153603"/>
            <a:ext cx="2633566" cy="3690183"/>
          </a:xfrm>
          <a:prstGeom prst="rect">
            <a:avLst/>
          </a:prstGeom>
          <a:solidFill>
            <a:srgbClr val="FFFFFF"/>
          </a:solidFill>
          <a:ln w="18000">
            <a:solidFill>
              <a:srgbClr val="E67E22"/>
            </a:solidFill>
          </a:ln>
        </p:spPr>
        <p:txBody>
          <a:bodyPr/>
          <a:lstStyle/>
          <a:p>
            <a:endParaRPr sz="1360"/>
          </a:p>
        </p:txBody>
      </p:sp>
      <p:sp>
        <p:nvSpPr>
          <p:cNvPr id="31" name="card3_top"/>
          <p:cNvSpPr/>
          <p:nvPr/>
        </p:nvSpPr>
        <p:spPr>
          <a:xfrm>
            <a:off x="5427249" y="1702279"/>
            <a:ext cx="2633567" cy="414653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/>
          <a:lstStyle/>
          <a:p>
            <a:endParaRPr sz="1360"/>
          </a:p>
        </p:txBody>
      </p:sp>
      <p:sp>
        <p:nvSpPr>
          <p:cNvPr id="32" name="card3_icon"/>
          <p:cNvSpPr txBox="1"/>
          <p:nvPr/>
        </p:nvSpPr>
        <p:spPr>
          <a:xfrm>
            <a:off x="5420234" y="1700541"/>
            <a:ext cx="2640582" cy="418128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2117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⚡</a:t>
            </a:r>
            <a:endParaRPr sz="2117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3" name="card3_title"/>
          <p:cNvSpPr txBox="1"/>
          <p:nvPr/>
        </p:nvSpPr>
        <p:spPr>
          <a:xfrm>
            <a:off x="5411962" y="2185491"/>
            <a:ext cx="26030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0D2B55"/>
                </a:solidFill>
              </a:rPr>
              <a:t>Простой и понятный код</a:t>
            </a:r>
            <a:endParaRPr sz="2000" b="1" dirty="0">
              <a:solidFill>
                <a:srgbClr val="0D2B55"/>
              </a:solidFill>
            </a:endParaRPr>
          </a:p>
        </p:txBody>
      </p:sp>
      <p:sp>
        <p:nvSpPr>
          <p:cNvPr id="34" name="card3_body"/>
          <p:cNvSpPr txBox="1"/>
          <p:nvPr/>
        </p:nvSpPr>
        <p:spPr>
          <a:xfrm>
            <a:off x="5403618" y="2863597"/>
            <a:ext cx="2695243" cy="2432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9">
                <a:solidFill>
                  <a:srgbClr val="444455"/>
                </a:solidFill>
              </a:rPr>
              <a:t>
</a:t>
            </a:r>
            <a:r>
              <a:rPr sz="2000">
                <a:solidFill>
                  <a:srgbClr val="444455"/>
                </a:solidFill>
              </a:rPr>
              <a:t>Чистый синтаксис, хорошая документация
Даёт больше возможностей, чем Selenium</a:t>
            </a:r>
            <a:endParaRPr dirty="0">
              <a:solidFill>
                <a:srgbClr val="444455"/>
              </a:solidFill>
            </a:endParaRPr>
          </a:p>
        </p:txBody>
      </p:sp>
      <p:sp>
        <p:nvSpPr>
          <p:cNvPr id="15" name="intro">
            <a:extLst>
              <a:ext uri="{FF2B5EF4-FFF2-40B4-BE49-F238E27FC236}">
                <a16:creationId xmlns:a16="http://schemas.microsoft.com/office/drawing/2014/main" id="{5B9D2F26-AC2E-F9C7-566A-7507A7570A8B}"/>
              </a:ext>
            </a:extLst>
          </p:cNvPr>
          <p:cNvSpPr txBox="1"/>
          <p:nvPr/>
        </p:nvSpPr>
        <p:spPr>
          <a:xfrm>
            <a:off x="130173" y="1268551"/>
            <a:ext cx="80797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rgbClr val="444455"/>
                </a:solidFill>
              </a:rPr>
              <a:t>Selenium</a:t>
            </a:r>
            <a:r>
              <a:rPr lang="ru-RU" sz="1600" i="1" dirty="0">
                <a:solidFill>
                  <a:srgbClr val="444455"/>
                </a:solidFill>
              </a:rPr>
              <a:t>,  </a:t>
            </a:r>
            <a:r>
              <a:rPr lang="en-US" sz="1600" i="1" dirty="0" err="1">
                <a:solidFill>
                  <a:srgbClr val="444455"/>
                </a:solidFill>
              </a:rPr>
              <a:t>driver.find_element</a:t>
            </a:r>
            <a:r>
              <a:rPr lang="en-US" sz="1600" i="1" dirty="0">
                <a:solidFill>
                  <a:srgbClr val="444455"/>
                </a:solidFill>
              </a:rPr>
              <a:t>(By.ID, "submit").click()</a:t>
            </a:r>
            <a:endParaRPr sz="1600" i="1" dirty="0">
              <a:solidFill>
                <a:srgbClr val="444455"/>
              </a:solidFill>
            </a:endParaRPr>
          </a:p>
        </p:txBody>
      </p:sp>
      <p:sp>
        <p:nvSpPr>
          <p:cNvPr id="16" name="intro">
            <a:extLst>
              <a:ext uri="{FF2B5EF4-FFF2-40B4-BE49-F238E27FC236}">
                <a16:creationId xmlns:a16="http://schemas.microsoft.com/office/drawing/2014/main" id="{D91EA61A-0C49-23BF-BC8C-7A1D08EBDE4C}"/>
              </a:ext>
            </a:extLst>
          </p:cNvPr>
          <p:cNvSpPr txBox="1"/>
          <p:nvPr/>
        </p:nvSpPr>
        <p:spPr>
          <a:xfrm>
            <a:off x="123787" y="949940"/>
            <a:ext cx="7843296" cy="325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11" i="1" dirty="0">
                <a:solidFill>
                  <a:srgbClr val="444455"/>
                </a:solidFill>
              </a:rPr>
              <a:t>Playwright</a:t>
            </a:r>
            <a:r>
              <a:rPr lang="ru-RU" sz="1511" i="1" dirty="0">
                <a:solidFill>
                  <a:srgbClr val="444455"/>
                </a:solidFill>
              </a:rPr>
              <a:t>, </a:t>
            </a:r>
            <a:r>
              <a:rPr lang="en-US" sz="1511" i="1" dirty="0" err="1">
                <a:solidFill>
                  <a:srgbClr val="444455"/>
                </a:solidFill>
              </a:rPr>
              <a:t>page.click</a:t>
            </a:r>
            <a:r>
              <a:rPr lang="en-US" sz="1511" i="1" dirty="0">
                <a:solidFill>
                  <a:srgbClr val="444455"/>
                </a:solidFill>
              </a:rPr>
              <a:t>("#submit")</a:t>
            </a:r>
            <a:endParaRPr sz="1511" i="1" dirty="0">
              <a:solidFill>
                <a:srgbClr val="444455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87" y="458804"/>
            <a:ext cx="8159749" cy="565148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360" dirty="0"/>
          </a:p>
        </p:txBody>
      </p:sp>
      <p:sp>
        <p:nvSpPr>
          <p:cNvPr id="3" name="Rectangle 2"/>
          <p:cNvSpPr/>
          <p:nvPr/>
        </p:nvSpPr>
        <p:spPr>
          <a:xfrm>
            <a:off x="-647" y="-9523"/>
            <a:ext cx="8166785" cy="9329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4" name="TextBox 3"/>
          <p:cNvSpPr txBox="1"/>
          <p:nvPr/>
        </p:nvSpPr>
        <p:spPr>
          <a:xfrm>
            <a:off x="146022" y="209296"/>
            <a:ext cx="8638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800" b="1" dirty="0">
                <a:solidFill>
                  <a:srgbClr val="FFFFFF"/>
                </a:solidFill>
              </a:rPr>
              <a:t>О</a:t>
            </a:r>
            <a:r>
              <a:rPr sz="2800" b="1" dirty="0" err="1">
                <a:solidFill>
                  <a:srgbClr val="FFFFFF"/>
                </a:solidFill>
              </a:rPr>
              <a:t>рганизаци</a:t>
            </a:r>
            <a:r>
              <a:rPr lang="ru-RU" sz="2800" b="1" dirty="0">
                <a:solidFill>
                  <a:srgbClr val="FFFFFF"/>
                </a:solidFill>
              </a:rPr>
              <a:t>я</a:t>
            </a:r>
            <a:r>
              <a:rPr sz="2800" b="1" dirty="0">
                <a:solidFill>
                  <a:srgbClr val="FFFFFF"/>
                </a:solidFill>
              </a:rPr>
              <a:t> </a:t>
            </a:r>
            <a:r>
              <a:rPr sz="2800" b="1" dirty="0" err="1">
                <a:solidFill>
                  <a:srgbClr val="FFFFFF"/>
                </a:solidFill>
              </a:rPr>
              <a:t>кода</a:t>
            </a:r>
            <a:r>
              <a:rPr sz="2800" b="1" dirty="0">
                <a:solidFill>
                  <a:srgbClr val="FFFFFF"/>
                </a:solidFill>
              </a:rPr>
              <a:t> — Page Object Model (POM)</a:t>
            </a:r>
          </a:p>
        </p:txBody>
      </p:sp>
      <p:sp>
        <p:nvSpPr>
          <p:cNvPr id="5" name="Rectangle 4"/>
          <p:cNvSpPr/>
          <p:nvPr/>
        </p:nvSpPr>
        <p:spPr>
          <a:xfrm>
            <a:off x="-649" y="911109"/>
            <a:ext cx="8166785" cy="45719"/>
          </a:xfrm>
          <a:prstGeom prst="rect">
            <a:avLst/>
          </a:prstGeom>
          <a:solidFill>
            <a:srgbClr val="009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6" name="Rectangle 5"/>
          <p:cNvSpPr/>
          <p:nvPr/>
        </p:nvSpPr>
        <p:spPr>
          <a:xfrm>
            <a:off x="-3518" y="5877936"/>
            <a:ext cx="8166785" cy="241877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8" name="TextBox 7"/>
          <p:cNvSpPr txBox="1"/>
          <p:nvPr/>
        </p:nvSpPr>
        <p:spPr>
          <a:xfrm>
            <a:off x="7646038" y="5820074"/>
            <a:ext cx="513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600" dirty="0">
                <a:solidFill>
                  <a:srgbClr val="009BD8"/>
                </a:solidFill>
              </a:rPr>
              <a:t>10</a:t>
            </a:r>
            <a:endParaRPr sz="1600" dirty="0">
              <a:solidFill>
                <a:srgbClr val="009BD8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982606"/>
            <a:ext cx="8166138" cy="794752"/>
          </a:xfrm>
          <a:prstGeom prst="rect">
            <a:avLst/>
          </a:prstGeom>
          <a:solidFill>
            <a:srgbClr val="4A2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11" name="TextBox 10"/>
          <p:cNvSpPr txBox="1"/>
          <p:nvPr/>
        </p:nvSpPr>
        <p:spPr>
          <a:xfrm>
            <a:off x="45282" y="1078245"/>
            <a:ext cx="13821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</a:rPr>
              <a:t>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7457" y="1078668"/>
            <a:ext cx="38009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dirty="0" err="1">
                <a:solidFill>
                  <a:srgbClr val="AACCFF"/>
                </a:solidFill>
              </a:rPr>
              <a:t>Тест-файлы</a:t>
            </a:r>
            <a:r>
              <a:rPr lang="ru-RU" sz="2800" dirty="0">
                <a:solidFill>
                  <a:srgbClr val="AACCFF"/>
                </a:solidFill>
              </a:rPr>
              <a:t> </a:t>
            </a:r>
            <a:r>
              <a:rPr sz="2800" dirty="0">
                <a:solidFill>
                  <a:srgbClr val="AACCFF"/>
                </a:solidFill>
              </a:rPr>
              <a:t>test_*.py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2574" y="1229911"/>
            <a:ext cx="276435" cy="27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9" dirty="0">
                <a:solidFill>
                  <a:srgbClr val="009BD8"/>
                </a:solidFill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649" y="1836051"/>
            <a:ext cx="8166785" cy="7947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15" name="TextBox 14"/>
          <p:cNvSpPr txBox="1"/>
          <p:nvPr/>
        </p:nvSpPr>
        <p:spPr>
          <a:xfrm>
            <a:off x="6388" y="1926427"/>
            <a:ext cx="81469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dirty="0" err="1">
                <a:solidFill>
                  <a:srgbClr val="444455"/>
                </a:solidFill>
              </a:rPr>
              <a:t>Только</a:t>
            </a:r>
            <a:r>
              <a:rPr sz="2800" dirty="0">
                <a:solidFill>
                  <a:srgbClr val="444455"/>
                </a:solidFill>
              </a:rPr>
              <a:t> </a:t>
            </a:r>
            <a:r>
              <a:rPr lang="ru-RU" sz="2800" dirty="0">
                <a:solidFill>
                  <a:srgbClr val="444455"/>
                </a:solidFill>
              </a:rPr>
              <a:t>действия</a:t>
            </a:r>
            <a:r>
              <a:rPr sz="2800" dirty="0">
                <a:solidFill>
                  <a:srgbClr val="444455"/>
                </a:solidFill>
              </a:rPr>
              <a:t>: </a:t>
            </a:r>
            <a:r>
              <a:rPr sz="2800" dirty="0" err="1">
                <a:solidFill>
                  <a:srgbClr val="444455"/>
                </a:solidFill>
              </a:rPr>
              <a:t>открыть</a:t>
            </a:r>
            <a:r>
              <a:rPr sz="2800" dirty="0">
                <a:solidFill>
                  <a:srgbClr val="444455"/>
                </a:solidFill>
              </a:rPr>
              <a:t> → </a:t>
            </a:r>
            <a:r>
              <a:rPr sz="2800" dirty="0" err="1">
                <a:solidFill>
                  <a:srgbClr val="444455"/>
                </a:solidFill>
              </a:rPr>
              <a:t>кликнуть</a:t>
            </a:r>
            <a:r>
              <a:rPr sz="2800" dirty="0">
                <a:solidFill>
                  <a:srgbClr val="444455"/>
                </a:solidFill>
              </a:rPr>
              <a:t> → </a:t>
            </a:r>
            <a:r>
              <a:rPr sz="2800" dirty="0" err="1">
                <a:solidFill>
                  <a:srgbClr val="444455"/>
                </a:solidFill>
              </a:rPr>
              <a:t>проверить</a:t>
            </a:r>
            <a:r>
              <a:rPr lang="ru-RU" sz="2800" dirty="0">
                <a:solidFill>
                  <a:srgbClr val="444455"/>
                </a:solidFill>
              </a:rPr>
              <a:t>. </a:t>
            </a:r>
            <a:endParaRPr sz="2800" dirty="0">
              <a:solidFill>
                <a:srgbClr val="444455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5A24F72-9E6D-0745-1909-03E5440FCA5B}"/>
              </a:ext>
            </a:extLst>
          </p:cNvPr>
          <p:cNvSpPr txBox="1"/>
          <p:nvPr/>
        </p:nvSpPr>
        <p:spPr>
          <a:xfrm>
            <a:off x="5335568" y="2883783"/>
            <a:ext cx="281779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200" dirty="0">
                <a:solidFill>
                  <a:srgbClr val="444455"/>
                </a:solidFill>
              </a:rPr>
              <a:t>Нет деталей реализации. Тест вызывает только готовые методы .</a:t>
            </a:r>
            <a:endParaRPr sz="3200" dirty="0">
              <a:solidFill>
                <a:srgbClr val="444455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C5B886B-BB04-47E5-C4E4-4F348275D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" y="2656581"/>
            <a:ext cx="5316406" cy="31924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D28C5F-0777-277D-8971-906E1586A893}"/>
              </a:ext>
            </a:extLst>
          </p:cNvPr>
          <p:cNvSpPr/>
          <p:nvPr/>
        </p:nvSpPr>
        <p:spPr>
          <a:xfrm>
            <a:off x="6387" y="458804"/>
            <a:ext cx="8159749" cy="565148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36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AE7A5A-4428-00E2-C2A6-5553DB4A7069}"/>
              </a:ext>
            </a:extLst>
          </p:cNvPr>
          <p:cNvSpPr/>
          <p:nvPr/>
        </p:nvSpPr>
        <p:spPr>
          <a:xfrm>
            <a:off x="-9006" y="-9523"/>
            <a:ext cx="8175144" cy="9329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5B45CD-9325-07A8-E385-4CFF5A088D7A}"/>
              </a:ext>
            </a:extLst>
          </p:cNvPr>
          <p:cNvSpPr txBox="1"/>
          <p:nvPr/>
        </p:nvSpPr>
        <p:spPr>
          <a:xfrm>
            <a:off x="146022" y="209296"/>
            <a:ext cx="8638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800" b="1" dirty="0">
                <a:solidFill>
                  <a:srgbClr val="FFFFFF"/>
                </a:solidFill>
              </a:rPr>
              <a:t>О</a:t>
            </a:r>
            <a:r>
              <a:rPr sz="2800" b="1" dirty="0" err="1">
                <a:solidFill>
                  <a:srgbClr val="FFFFFF"/>
                </a:solidFill>
              </a:rPr>
              <a:t>рганизаци</a:t>
            </a:r>
            <a:r>
              <a:rPr lang="ru-RU" sz="2800" b="1" dirty="0">
                <a:solidFill>
                  <a:srgbClr val="FFFFFF"/>
                </a:solidFill>
              </a:rPr>
              <a:t>я</a:t>
            </a:r>
            <a:r>
              <a:rPr sz="2800" b="1" dirty="0">
                <a:solidFill>
                  <a:srgbClr val="FFFFFF"/>
                </a:solidFill>
              </a:rPr>
              <a:t> </a:t>
            </a:r>
            <a:r>
              <a:rPr sz="2800" b="1" dirty="0" err="1">
                <a:solidFill>
                  <a:srgbClr val="FFFFFF"/>
                </a:solidFill>
              </a:rPr>
              <a:t>кода</a:t>
            </a:r>
            <a:r>
              <a:rPr sz="2800" b="1" dirty="0">
                <a:solidFill>
                  <a:srgbClr val="FFFFFF"/>
                </a:solidFill>
              </a:rPr>
              <a:t> — Page Object Model (POM)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FDA096-24DB-19F3-8875-B202B69F869B}"/>
              </a:ext>
            </a:extLst>
          </p:cNvPr>
          <p:cNvSpPr/>
          <p:nvPr/>
        </p:nvSpPr>
        <p:spPr>
          <a:xfrm>
            <a:off x="-9007" y="911109"/>
            <a:ext cx="8175143" cy="45719"/>
          </a:xfrm>
          <a:prstGeom prst="rect">
            <a:avLst/>
          </a:prstGeom>
          <a:solidFill>
            <a:srgbClr val="009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AFF3D7-7B49-C2A8-B6C9-6EA9773CF34D}"/>
              </a:ext>
            </a:extLst>
          </p:cNvPr>
          <p:cNvSpPr/>
          <p:nvPr/>
        </p:nvSpPr>
        <p:spPr>
          <a:xfrm>
            <a:off x="-1866" y="5877936"/>
            <a:ext cx="8175143" cy="241877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B9AF0D3E-06F3-8E8B-EB17-A902D0024294}"/>
              </a:ext>
            </a:extLst>
          </p:cNvPr>
          <p:cNvSpPr/>
          <p:nvPr/>
        </p:nvSpPr>
        <p:spPr>
          <a:xfrm>
            <a:off x="-9007" y="973235"/>
            <a:ext cx="8190536" cy="79227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182233-0926-150E-4F5E-D12B132BC2CF}"/>
              </a:ext>
            </a:extLst>
          </p:cNvPr>
          <p:cNvSpPr txBox="1"/>
          <p:nvPr/>
        </p:nvSpPr>
        <p:spPr>
          <a:xfrm>
            <a:off x="130629" y="1030480"/>
            <a:ext cx="13821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</a:rPr>
              <a:t>PAGES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C5B5DB-2779-E460-16A9-110EB768FB03}"/>
              </a:ext>
            </a:extLst>
          </p:cNvPr>
          <p:cNvSpPr txBox="1"/>
          <p:nvPr/>
        </p:nvSpPr>
        <p:spPr>
          <a:xfrm>
            <a:off x="1521057" y="1043238"/>
            <a:ext cx="29567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dirty="0" err="1">
                <a:solidFill>
                  <a:srgbClr val="AACCFF"/>
                </a:solidFill>
              </a:rPr>
              <a:t>Страницы</a:t>
            </a:r>
            <a:r>
              <a:rPr sz="2800" dirty="0">
                <a:solidFill>
                  <a:srgbClr val="AACCFF"/>
                </a:solidFill>
              </a:rPr>
              <a:t> </a:t>
            </a:r>
            <a:r>
              <a:rPr sz="2800" dirty="0" err="1">
                <a:solidFill>
                  <a:srgbClr val="AACCFF"/>
                </a:solidFill>
              </a:rPr>
              <a:t>сайта</a:t>
            </a:r>
            <a:endParaRPr sz="2800" dirty="0">
              <a:solidFill>
                <a:srgbClr val="AACCFF"/>
              </a:solidFill>
            </a:endParaRPr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46A59DD4-2940-F3FE-88AB-0D0D8D4FB182}"/>
              </a:ext>
            </a:extLst>
          </p:cNvPr>
          <p:cNvSpPr/>
          <p:nvPr/>
        </p:nvSpPr>
        <p:spPr>
          <a:xfrm>
            <a:off x="-11827" y="1792686"/>
            <a:ext cx="8168002" cy="5804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A49D90-0E32-35C3-3EE8-2E798158D859}"/>
              </a:ext>
            </a:extLst>
          </p:cNvPr>
          <p:cNvSpPr txBox="1"/>
          <p:nvPr/>
        </p:nvSpPr>
        <p:spPr>
          <a:xfrm>
            <a:off x="6387" y="1806821"/>
            <a:ext cx="79852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dirty="0">
                <a:solidFill>
                  <a:srgbClr val="444455"/>
                </a:solidFill>
              </a:rPr>
              <a:t>Каждая страница отдельный класс: </a:t>
            </a:r>
            <a:r>
              <a:rPr lang="en-US" sz="2400" dirty="0" err="1">
                <a:solidFill>
                  <a:srgbClr val="444455"/>
                </a:solidFill>
              </a:rPr>
              <a:t>MainPage</a:t>
            </a:r>
            <a:r>
              <a:rPr lang="en-US" sz="2400" dirty="0">
                <a:solidFill>
                  <a:srgbClr val="444455"/>
                </a:solidFill>
              </a:rPr>
              <a:t>, </a:t>
            </a:r>
            <a:r>
              <a:rPr lang="en-US" sz="2400" dirty="0" err="1">
                <a:solidFill>
                  <a:srgbClr val="444455"/>
                </a:solidFill>
              </a:rPr>
              <a:t>PageNevrolog</a:t>
            </a:r>
            <a:endParaRPr sz="2400" dirty="0">
              <a:solidFill>
                <a:srgbClr val="444455"/>
              </a:solidFill>
            </a:endParaRPr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625B18AD-2C90-CBDA-2AFA-9BC9118C8F29}"/>
              </a:ext>
            </a:extLst>
          </p:cNvPr>
          <p:cNvSpPr/>
          <p:nvPr/>
        </p:nvSpPr>
        <p:spPr>
          <a:xfrm>
            <a:off x="-11827" y="2406941"/>
            <a:ext cx="8193356" cy="7947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633FE6-7836-222A-D1C9-F331E6B7FE60}"/>
              </a:ext>
            </a:extLst>
          </p:cNvPr>
          <p:cNvSpPr txBox="1"/>
          <p:nvPr/>
        </p:nvSpPr>
        <p:spPr>
          <a:xfrm>
            <a:off x="0" y="2360112"/>
            <a:ext cx="78638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dirty="0" err="1">
                <a:solidFill>
                  <a:srgbClr val="444455"/>
                </a:solidFill>
              </a:rPr>
              <a:t>Методы</a:t>
            </a:r>
            <a:r>
              <a:rPr sz="2400" dirty="0">
                <a:solidFill>
                  <a:srgbClr val="444455"/>
                </a:solidFill>
              </a:rPr>
              <a:t> </a:t>
            </a:r>
            <a:r>
              <a:rPr sz="2400" dirty="0" err="1">
                <a:solidFill>
                  <a:srgbClr val="444455"/>
                </a:solidFill>
              </a:rPr>
              <a:t>уровня</a:t>
            </a:r>
            <a:r>
              <a:rPr sz="2400" dirty="0">
                <a:solidFill>
                  <a:srgbClr val="444455"/>
                </a:solidFill>
              </a:rPr>
              <a:t> </a:t>
            </a:r>
            <a:r>
              <a:rPr sz="2400" dirty="0" err="1">
                <a:solidFill>
                  <a:srgbClr val="444455"/>
                </a:solidFill>
              </a:rPr>
              <a:t>страницы</a:t>
            </a:r>
            <a:r>
              <a:rPr sz="2400" dirty="0">
                <a:solidFill>
                  <a:srgbClr val="444455"/>
                </a:solidFill>
              </a:rPr>
              <a:t>: open(), </a:t>
            </a:r>
            <a:r>
              <a:rPr sz="2400" dirty="0" err="1">
                <a:solidFill>
                  <a:srgbClr val="444455"/>
                </a:solidFill>
              </a:rPr>
              <a:t>scroll_to_section</a:t>
            </a:r>
            <a:r>
              <a:rPr sz="2400" dirty="0">
                <a:solidFill>
                  <a:srgbClr val="444455"/>
                </a:solidFill>
              </a:rPr>
              <a:t>()</a:t>
            </a:r>
            <a:r>
              <a:rPr lang="ru-RU" sz="2400" dirty="0">
                <a:solidFill>
                  <a:srgbClr val="444455"/>
                </a:solidFill>
              </a:rPr>
              <a:t>, </a:t>
            </a:r>
            <a:r>
              <a:rPr lang="en-US" sz="2400" dirty="0">
                <a:solidFill>
                  <a:srgbClr val="444455"/>
                </a:solidFill>
              </a:rPr>
              <a:t>check_title_h1()</a:t>
            </a:r>
            <a:endParaRPr sz="2400" dirty="0">
              <a:solidFill>
                <a:srgbClr val="444455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255ADD-43D4-6C53-9BAB-99DC25FF66DB}"/>
              </a:ext>
            </a:extLst>
          </p:cNvPr>
          <p:cNvSpPr txBox="1"/>
          <p:nvPr/>
        </p:nvSpPr>
        <p:spPr>
          <a:xfrm>
            <a:off x="7523480" y="5844795"/>
            <a:ext cx="6298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400" dirty="0">
                <a:solidFill>
                  <a:srgbClr val="009BD8"/>
                </a:solidFill>
              </a:rPr>
              <a:t>11</a:t>
            </a:r>
            <a:endParaRPr sz="1400" dirty="0">
              <a:solidFill>
                <a:srgbClr val="009BD8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CC10F4-F9EE-8DC1-64CE-1005FEC39657}"/>
              </a:ext>
            </a:extLst>
          </p:cNvPr>
          <p:cNvSpPr txBox="1"/>
          <p:nvPr/>
        </p:nvSpPr>
        <p:spPr>
          <a:xfrm>
            <a:off x="7751485" y="1252241"/>
            <a:ext cx="276435" cy="27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9" dirty="0">
                <a:solidFill>
                  <a:srgbClr val="009BD8"/>
                </a:solidFill>
              </a:rPr>
              <a:t>▼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8A3EBBB4-1D97-AA73-44F2-429583687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59" y="3224250"/>
            <a:ext cx="4437075" cy="2618124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81AC4895-162C-B3DB-A80F-B5B728DE3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1206" y="3234832"/>
            <a:ext cx="3578285" cy="2607541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4195586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A7FC20-2C60-88E0-064D-D8061FB0EA29}"/>
              </a:ext>
            </a:extLst>
          </p:cNvPr>
          <p:cNvSpPr/>
          <p:nvPr/>
        </p:nvSpPr>
        <p:spPr>
          <a:xfrm>
            <a:off x="6387" y="458804"/>
            <a:ext cx="8159749" cy="565148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36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25FC50-6273-C9FF-B1F6-9E9B3A3D1D12}"/>
              </a:ext>
            </a:extLst>
          </p:cNvPr>
          <p:cNvSpPr/>
          <p:nvPr/>
        </p:nvSpPr>
        <p:spPr>
          <a:xfrm>
            <a:off x="-2" y="-9523"/>
            <a:ext cx="8166139" cy="9329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B8A258-D429-AB4B-B7BA-BE554464EE46}"/>
              </a:ext>
            </a:extLst>
          </p:cNvPr>
          <p:cNvSpPr txBox="1"/>
          <p:nvPr/>
        </p:nvSpPr>
        <p:spPr>
          <a:xfrm>
            <a:off x="146022" y="209296"/>
            <a:ext cx="8638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800" b="1" dirty="0">
                <a:solidFill>
                  <a:srgbClr val="FFFFFF"/>
                </a:solidFill>
              </a:rPr>
              <a:t>О</a:t>
            </a:r>
            <a:r>
              <a:rPr sz="2800" b="1" dirty="0" err="1">
                <a:solidFill>
                  <a:srgbClr val="FFFFFF"/>
                </a:solidFill>
              </a:rPr>
              <a:t>рганизаци</a:t>
            </a:r>
            <a:r>
              <a:rPr lang="ru-RU" sz="2800" b="1" dirty="0">
                <a:solidFill>
                  <a:srgbClr val="FFFFFF"/>
                </a:solidFill>
              </a:rPr>
              <a:t>я</a:t>
            </a:r>
            <a:r>
              <a:rPr sz="2800" b="1" dirty="0">
                <a:solidFill>
                  <a:srgbClr val="FFFFFF"/>
                </a:solidFill>
              </a:rPr>
              <a:t> </a:t>
            </a:r>
            <a:r>
              <a:rPr sz="2800" b="1" dirty="0" err="1">
                <a:solidFill>
                  <a:srgbClr val="FFFFFF"/>
                </a:solidFill>
              </a:rPr>
              <a:t>кода</a:t>
            </a:r>
            <a:r>
              <a:rPr sz="2800" b="1" dirty="0">
                <a:solidFill>
                  <a:srgbClr val="FFFFFF"/>
                </a:solidFill>
              </a:rPr>
              <a:t> — Page Object Model (POM)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0AEC89-7899-0A16-F259-04843C5CAC10}"/>
              </a:ext>
            </a:extLst>
          </p:cNvPr>
          <p:cNvSpPr/>
          <p:nvPr/>
        </p:nvSpPr>
        <p:spPr>
          <a:xfrm>
            <a:off x="-1" y="911109"/>
            <a:ext cx="8166137" cy="45719"/>
          </a:xfrm>
          <a:prstGeom prst="rect">
            <a:avLst/>
          </a:prstGeom>
          <a:solidFill>
            <a:srgbClr val="009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9F4DF1-2FD0-9625-8712-8CD07D87461B}"/>
              </a:ext>
            </a:extLst>
          </p:cNvPr>
          <p:cNvSpPr/>
          <p:nvPr/>
        </p:nvSpPr>
        <p:spPr>
          <a:xfrm>
            <a:off x="0" y="5877936"/>
            <a:ext cx="8166139" cy="241877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12" name="Rectangle 21">
            <a:extLst>
              <a:ext uri="{FF2B5EF4-FFF2-40B4-BE49-F238E27FC236}">
                <a16:creationId xmlns:a16="http://schemas.microsoft.com/office/drawing/2014/main" id="{B2B47716-CF89-92E3-D13E-9611A9926BD2}"/>
              </a:ext>
            </a:extLst>
          </p:cNvPr>
          <p:cNvSpPr/>
          <p:nvPr/>
        </p:nvSpPr>
        <p:spPr>
          <a:xfrm>
            <a:off x="-1" y="983540"/>
            <a:ext cx="8166139" cy="716667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8D1DCB-6818-AA90-1133-F80C03D22EF1}"/>
              </a:ext>
            </a:extLst>
          </p:cNvPr>
          <p:cNvSpPr txBox="1"/>
          <p:nvPr/>
        </p:nvSpPr>
        <p:spPr>
          <a:xfrm>
            <a:off x="112506" y="1080324"/>
            <a:ext cx="274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COMPONENTS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7E824E-67A9-D1D4-D69A-3AC628213256}"/>
              </a:ext>
            </a:extLst>
          </p:cNvPr>
          <p:cNvSpPr txBox="1"/>
          <p:nvPr/>
        </p:nvSpPr>
        <p:spPr>
          <a:xfrm>
            <a:off x="2562661" y="1078773"/>
            <a:ext cx="15436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dirty="0" err="1">
                <a:solidFill>
                  <a:srgbClr val="AACCFF"/>
                </a:solidFill>
              </a:rPr>
              <a:t>Блоки</a:t>
            </a:r>
            <a:endParaRPr sz="2800" dirty="0">
              <a:solidFill>
                <a:srgbClr val="AACCFF"/>
              </a:solidFill>
            </a:endParaRPr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FDA84D0C-0A19-142B-B7DF-704BD7477F43}"/>
              </a:ext>
            </a:extLst>
          </p:cNvPr>
          <p:cNvSpPr/>
          <p:nvPr/>
        </p:nvSpPr>
        <p:spPr>
          <a:xfrm>
            <a:off x="-2" y="1748913"/>
            <a:ext cx="8173057" cy="7947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556F2C-DBCC-1028-BC73-0A5283861D7F}"/>
              </a:ext>
            </a:extLst>
          </p:cNvPr>
          <p:cNvSpPr txBox="1"/>
          <p:nvPr/>
        </p:nvSpPr>
        <p:spPr>
          <a:xfrm>
            <a:off x="97699" y="1733590"/>
            <a:ext cx="79347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dirty="0" err="1">
                <a:solidFill>
                  <a:srgbClr val="444455"/>
                </a:solidFill>
              </a:rPr>
              <a:t>Составные</a:t>
            </a:r>
            <a:r>
              <a:rPr sz="2400" dirty="0">
                <a:solidFill>
                  <a:srgbClr val="444455"/>
                </a:solidFill>
              </a:rPr>
              <a:t> </a:t>
            </a:r>
            <a:r>
              <a:rPr lang="ru-RU" sz="2400" dirty="0">
                <a:solidFill>
                  <a:srgbClr val="444455"/>
                </a:solidFill>
              </a:rPr>
              <a:t>части интерфейса</a:t>
            </a:r>
            <a:r>
              <a:rPr sz="2400" dirty="0">
                <a:solidFill>
                  <a:srgbClr val="444455"/>
                </a:solidFill>
              </a:rPr>
              <a:t>: </a:t>
            </a:r>
            <a:r>
              <a:rPr lang="en-US" sz="2400" dirty="0">
                <a:solidFill>
                  <a:srgbClr val="444455"/>
                </a:solidFill>
              </a:rPr>
              <a:t>Header, </a:t>
            </a:r>
            <a:r>
              <a:rPr lang="en-US" sz="2400" dirty="0" err="1">
                <a:solidFill>
                  <a:srgbClr val="444455"/>
                </a:solidFill>
              </a:rPr>
              <a:t>FormRecording</a:t>
            </a:r>
            <a:r>
              <a:rPr lang="en-US" sz="2400" dirty="0">
                <a:solidFill>
                  <a:srgbClr val="444455"/>
                </a:solidFill>
              </a:rPr>
              <a:t>, </a:t>
            </a:r>
            <a:r>
              <a:rPr lang="en-US" sz="2400" dirty="0" err="1">
                <a:solidFill>
                  <a:srgbClr val="444455"/>
                </a:solidFill>
              </a:rPr>
              <a:t>CardDoctor</a:t>
            </a:r>
            <a:endParaRPr sz="2400" dirty="0">
              <a:solidFill>
                <a:srgbClr val="444455"/>
              </a:solidFill>
            </a:endParaRPr>
          </a:p>
        </p:txBody>
      </p:sp>
      <p:sp>
        <p:nvSpPr>
          <p:cNvPr id="17" name="Rectangle 25">
            <a:extLst>
              <a:ext uri="{FF2B5EF4-FFF2-40B4-BE49-F238E27FC236}">
                <a16:creationId xmlns:a16="http://schemas.microsoft.com/office/drawing/2014/main" id="{200A1383-1B23-FA83-ACF9-10A9A742220A}"/>
              </a:ext>
            </a:extLst>
          </p:cNvPr>
          <p:cNvSpPr/>
          <p:nvPr/>
        </p:nvSpPr>
        <p:spPr>
          <a:xfrm>
            <a:off x="-2" y="2575217"/>
            <a:ext cx="8163681" cy="6324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7D612B-5B64-A0FD-C598-5DF77013E943}"/>
              </a:ext>
            </a:extLst>
          </p:cNvPr>
          <p:cNvSpPr txBox="1"/>
          <p:nvPr/>
        </p:nvSpPr>
        <p:spPr>
          <a:xfrm>
            <a:off x="97699" y="2672835"/>
            <a:ext cx="79591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dirty="0">
                <a:solidFill>
                  <a:srgbClr val="444455"/>
                </a:solidFill>
              </a:rPr>
              <a:t>Могут содержать другие компоненты и </a:t>
            </a:r>
            <a:r>
              <a:rPr lang="ru-RU" sz="2400" dirty="0" err="1">
                <a:solidFill>
                  <a:srgbClr val="444455"/>
                </a:solidFill>
              </a:rPr>
              <a:t>контроллы</a:t>
            </a:r>
            <a:endParaRPr sz="2400" dirty="0">
              <a:solidFill>
                <a:srgbClr val="444455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073169-38BC-020C-A1EC-465A8B6C4749}"/>
              </a:ext>
            </a:extLst>
          </p:cNvPr>
          <p:cNvSpPr txBox="1"/>
          <p:nvPr/>
        </p:nvSpPr>
        <p:spPr>
          <a:xfrm>
            <a:off x="7719144" y="5835462"/>
            <a:ext cx="4317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400" dirty="0">
                <a:solidFill>
                  <a:srgbClr val="009BD8"/>
                </a:solidFill>
              </a:rPr>
              <a:t>12</a:t>
            </a:r>
            <a:endParaRPr sz="1400" dirty="0">
              <a:solidFill>
                <a:srgbClr val="009BD8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120B69-87D6-1F05-2339-8D325FBB5A7D}"/>
              </a:ext>
            </a:extLst>
          </p:cNvPr>
          <p:cNvSpPr txBox="1"/>
          <p:nvPr/>
        </p:nvSpPr>
        <p:spPr>
          <a:xfrm>
            <a:off x="7719144" y="1236219"/>
            <a:ext cx="276435" cy="27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9" dirty="0">
                <a:solidFill>
                  <a:srgbClr val="009BD8"/>
                </a:solidFill>
              </a:rPr>
              <a:t>▼</a:t>
            </a: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7E708093-D86E-27AF-D3AC-74F2A735E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49" y="3275075"/>
            <a:ext cx="4198987" cy="2579435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5AD9612D-FA3A-B7AE-4412-7673A386A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209" y="3275075"/>
            <a:ext cx="3807692" cy="257943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545131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3DBE52-9231-BE18-E624-E8F490BF73BD}"/>
              </a:ext>
            </a:extLst>
          </p:cNvPr>
          <p:cNvSpPr/>
          <p:nvPr/>
        </p:nvSpPr>
        <p:spPr>
          <a:xfrm>
            <a:off x="6387" y="458804"/>
            <a:ext cx="8159749" cy="565148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36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2FC3A1-ADD4-B56B-8C25-4129D30191CD}"/>
              </a:ext>
            </a:extLst>
          </p:cNvPr>
          <p:cNvSpPr/>
          <p:nvPr/>
        </p:nvSpPr>
        <p:spPr>
          <a:xfrm>
            <a:off x="-6387" y="0"/>
            <a:ext cx="8172522" cy="9329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6F779C-45B7-CE8B-AED9-D343B2FC6437}"/>
              </a:ext>
            </a:extLst>
          </p:cNvPr>
          <p:cNvSpPr txBox="1"/>
          <p:nvPr/>
        </p:nvSpPr>
        <p:spPr>
          <a:xfrm>
            <a:off x="146022" y="209296"/>
            <a:ext cx="8638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800" b="1" dirty="0">
                <a:solidFill>
                  <a:srgbClr val="FFFFFF"/>
                </a:solidFill>
              </a:rPr>
              <a:t>О</a:t>
            </a:r>
            <a:r>
              <a:rPr sz="2800" b="1" dirty="0" err="1">
                <a:solidFill>
                  <a:srgbClr val="FFFFFF"/>
                </a:solidFill>
              </a:rPr>
              <a:t>рганизаци</a:t>
            </a:r>
            <a:r>
              <a:rPr lang="ru-RU" sz="2800" b="1" dirty="0">
                <a:solidFill>
                  <a:srgbClr val="FFFFFF"/>
                </a:solidFill>
              </a:rPr>
              <a:t>я</a:t>
            </a:r>
            <a:r>
              <a:rPr sz="2800" b="1" dirty="0">
                <a:solidFill>
                  <a:srgbClr val="FFFFFF"/>
                </a:solidFill>
              </a:rPr>
              <a:t> </a:t>
            </a:r>
            <a:r>
              <a:rPr sz="2800" b="1" dirty="0" err="1">
                <a:solidFill>
                  <a:srgbClr val="FFFFFF"/>
                </a:solidFill>
              </a:rPr>
              <a:t>кода</a:t>
            </a:r>
            <a:r>
              <a:rPr sz="2800" b="1" dirty="0">
                <a:solidFill>
                  <a:srgbClr val="FFFFFF"/>
                </a:solidFill>
              </a:rPr>
              <a:t> — Page Object Model (POM)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4A583F-8958-A77E-AC68-8C1AAED4AD2A}"/>
              </a:ext>
            </a:extLst>
          </p:cNvPr>
          <p:cNvSpPr/>
          <p:nvPr/>
        </p:nvSpPr>
        <p:spPr>
          <a:xfrm>
            <a:off x="-6387" y="911109"/>
            <a:ext cx="8172523" cy="45719"/>
          </a:xfrm>
          <a:prstGeom prst="rect">
            <a:avLst/>
          </a:prstGeom>
          <a:solidFill>
            <a:srgbClr val="009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8FEEE5-D041-42B6-4AF3-6DC50E4FBFA0}"/>
              </a:ext>
            </a:extLst>
          </p:cNvPr>
          <p:cNvSpPr/>
          <p:nvPr/>
        </p:nvSpPr>
        <p:spPr>
          <a:xfrm>
            <a:off x="0" y="5882123"/>
            <a:ext cx="8172522" cy="241877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7" name="Rectangle 27">
            <a:extLst>
              <a:ext uri="{FF2B5EF4-FFF2-40B4-BE49-F238E27FC236}">
                <a16:creationId xmlns:a16="http://schemas.microsoft.com/office/drawing/2014/main" id="{923B6111-71A5-AAD4-6B02-C25ECAC4F72E}"/>
              </a:ext>
            </a:extLst>
          </p:cNvPr>
          <p:cNvSpPr/>
          <p:nvPr/>
        </p:nvSpPr>
        <p:spPr>
          <a:xfrm>
            <a:off x="0" y="989215"/>
            <a:ext cx="8166135" cy="74723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807D28-988B-877B-0AF2-89CE0169C004}"/>
              </a:ext>
            </a:extLst>
          </p:cNvPr>
          <p:cNvSpPr txBox="1"/>
          <p:nvPr/>
        </p:nvSpPr>
        <p:spPr>
          <a:xfrm>
            <a:off x="8842" y="1025635"/>
            <a:ext cx="22485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</a:rPr>
              <a:t>CONTROLS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BDFBAE-5A6C-7403-41ED-CECA3144DF97}"/>
              </a:ext>
            </a:extLst>
          </p:cNvPr>
          <p:cNvSpPr txBox="1"/>
          <p:nvPr/>
        </p:nvSpPr>
        <p:spPr>
          <a:xfrm>
            <a:off x="2179382" y="1078789"/>
            <a:ext cx="38009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800" dirty="0">
                <a:solidFill>
                  <a:srgbClr val="AACCFF"/>
                </a:solidFill>
              </a:rPr>
              <a:t>Элементы управления</a:t>
            </a:r>
            <a:endParaRPr sz="2800" dirty="0">
              <a:solidFill>
                <a:srgbClr val="AACCFF"/>
              </a:solidFill>
            </a:endParaRPr>
          </a:p>
        </p:txBody>
      </p:sp>
      <p:sp>
        <p:nvSpPr>
          <p:cNvPr id="10" name="Rectangle 30">
            <a:extLst>
              <a:ext uri="{FF2B5EF4-FFF2-40B4-BE49-F238E27FC236}">
                <a16:creationId xmlns:a16="http://schemas.microsoft.com/office/drawing/2014/main" id="{16AF98BD-26F4-148E-127F-B4EFB3E14884}"/>
              </a:ext>
            </a:extLst>
          </p:cNvPr>
          <p:cNvSpPr/>
          <p:nvPr/>
        </p:nvSpPr>
        <p:spPr>
          <a:xfrm>
            <a:off x="-2454" y="1798094"/>
            <a:ext cx="8172523" cy="6554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050870-3398-9939-AA79-8C993AD0D60A}"/>
              </a:ext>
            </a:extLst>
          </p:cNvPr>
          <p:cNvSpPr txBox="1"/>
          <p:nvPr/>
        </p:nvSpPr>
        <p:spPr>
          <a:xfrm>
            <a:off x="8842" y="1894561"/>
            <a:ext cx="82422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dirty="0" err="1">
                <a:solidFill>
                  <a:srgbClr val="444455"/>
                </a:solidFill>
              </a:rPr>
              <a:t>Минимальные</a:t>
            </a:r>
            <a:r>
              <a:rPr sz="2400" dirty="0">
                <a:solidFill>
                  <a:srgbClr val="444455"/>
                </a:solidFill>
              </a:rPr>
              <a:t> </a:t>
            </a:r>
            <a:r>
              <a:rPr sz="2400" dirty="0" err="1">
                <a:solidFill>
                  <a:srgbClr val="444455"/>
                </a:solidFill>
              </a:rPr>
              <a:t>элементы</a:t>
            </a:r>
            <a:r>
              <a:rPr sz="2400" dirty="0">
                <a:solidFill>
                  <a:srgbClr val="444455"/>
                </a:solidFill>
              </a:rPr>
              <a:t>:</a:t>
            </a:r>
            <a:r>
              <a:rPr lang="ru-RU" sz="2400" dirty="0">
                <a:solidFill>
                  <a:srgbClr val="444455"/>
                </a:solidFill>
              </a:rPr>
              <a:t> </a:t>
            </a:r>
            <a:r>
              <a:rPr lang="en-US" sz="2400" dirty="0" err="1">
                <a:solidFill>
                  <a:srgbClr val="444455"/>
                </a:solidFill>
              </a:rPr>
              <a:t>InputForm</a:t>
            </a:r>
            <a:r>
              <a:rPr lang="en-US" sz="2400" dirty="0">
                <a:solidFill>
                  <a:srgbClr val="444455"/>
                </a:solidFill>
              </a:rPr>
              <a:t>, </a:t>
            </a:r>
            <a:r>
              <a:rPr lang="en-US" sz="2400" dirty="0" err="1">
                <a:solidFill>
                  <a:srgbClr val="444455"/>
                </a:solidFill>
              </a:rPr>
              <a:t>ButtonForm</a:t>
            </a:r>
            <a:r>
              <a:rPr lang="en-US" sz="2400" dirty="0">
                <a:solidFill>
                  <a:srgbClr val="444455"/>
                </a:solidFill>
              </a:rPr>
              <a:t>, Pagination</a:t>
            </a:r>
            <a:endParaRPr sz="2400" dirty="0">
              <a:solidFill>
                <a:srgbClr val="444455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A29572-9550-A16D-66AD-247C778BDB78}"/>
              </a:ext>
            </a:extLst>
          </p:cNvPr>
          <p:cNvSpPr txBox="1"/>
          <p:nvPr/>
        </p:nvSpPr>
        <p:spPr>
          <a:xfrm>
            <a:off x="7675880" y="5849172"/>
            <a:ext cx="4774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400" dirty="0">
                <a:solidFill>
                  <a:srgbClr val="009BD8"/>
                </a:solidFill>
              </a:rPr>
              <a:t>13</a:t>
            </a:r>
            <a:endParaRPr sz="1400" dirty="0">
              <a:solidFill>
                <a:srgbClr val="009BD8"/>
              </a:solidFill>
            </a:endParaRPr>
          </a:p>
        </p:txBody>
      </p:sp>
      <p:sp>
        <p:nvSpPr>
          <p:cNvPr id="14" name="Rectangle 30">
            <a:extLst>
              <a:ext uri="{FF2B5EF4-FFF2-40B4-BE49-F238E27FC236}">
                <a16:creationId xmlns:a16="http://schemas.microsoft.com/office/drawing/2014/main" id="{BE838E82-CA93-7822-D815-6C685548CEB7}"/>
              </a:ext>
            </a:extLst>
          </p:cNvPr>
          <p:cNvSpPr/>
          <p:nvPr/>
        </p:nvSpPr>
        <p:spPr>
          <a:xfrm>
            <a:off x="-7003" y="2497927"/>
            <a:ext cx="8170069" cy="6197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E3F7E2-D600-4EA6-689C-C700060582FA}"/>
              </a:ext>
            </a:extLst>
          </p:cNvPr>
          <p:cNvSpPr txBox="1"/>
          <p:nvPr/>
        </p:nvSpPr>
        <p:spPr>
          <a:xfrm>
            <a:off x="8842" y="2460513"/>
            <a:ext cx="78228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800" dirty="0">
                <a:solidFill>
                  <a:srgbClr val="444455"/>
                </a:solidFill>
              </a:rPr>
              <a:t>Предоставляют методы: </a:t>
            </a:r>
            <a:r>
              <a:rPr lang="en-US" sz="2800" dirty="0">
                <a:solidFill>
                  <a:srgbClr val="444455"/>
                </a:solidFill>
              </a:rPr>
              <a:t>click(), fill(), </a:t>
            </a:r>
            <a:r>
              <a:rPr lang="en-US" sz="2800" dirty="0" err="1">
                <a:solidFill>
                  <a:srgbClr val="444455"/>
                </a:solidFill>
              </a:rPr>
              <a:t>get_error</a:t>
            </a:r>
            <a:r>
              <a:rPr lang="en-US" sz="2800" dirty="0">
                <a:solidFill>
                  <a:srgbClr val="444455"/>
                </a:solidFill>
              </a:rPr>
              <a:t>()</a:t>
            </a:r>
            <a:endParaRPr sz="2800" dirty="0">
              <a:solidFill>
                <a:srgbClr val="444455"/>
              </a:solidFill>
            </a:endParaRP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27906CB1-FF3E-E24E-B9BC-980B0604A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7" y="3175368"/>
            <a:ext cx="4773335" cy="2673803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14D38556-85EF-E93B-5767-15A64A071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167" y="3162077"/>
            <a:ext cx="3136484" cy="267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762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468327"/>
            <a:ext cx="8159750" cy="564964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3" name="Rectangle 2"/>
          <p:cNvSpPr/>
          <p:nvPr/>
        </p:nvSpPr>
        <p:spPr>
          <a:xfrm>
            <a:off x="2" y="1845"/>
            <a:ext cx="8159751" cy="9329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4" name="TextBox 3"/>
          <p:cNvSpPr txBox="1"/>
          <p:nvPr/>
        </p:nvSpPr>
        <p:spPr>
          <a:xfrm>
            <a:off x="229983" y="137443"/>
            <a:ext cx="76158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 err="1">
                <a:solidFill>
                  <a:srgbClr val="FFFFFF"/>
                </a:solidFill>
              </a:rPr>
              <a:t>Тест-кейсы</a:t>
            </a:r>
            <a:r>
              <a:rPr sz="3200" b="1" dirty="0">
                <a:solidFill>
                  <a:srgbClr val="FFFFFF"/>
                </a:solidFill>
              </a:rPr>
              <a:t> </a:t>
            </a:r>
            <a:r>
              <a:rPr sz="3200" b="1" dirty="0" err="1">
                <a:solidFill>
                  <a:srgbClr val="FFFFFF"/>
                </a:solidFill>
              </a:rPr>
              <a:t>для</a:t>
            </a:r>
            <a:r>
              <a:rPr sz="3200" b="1" dirty="0">
                <a:solidFill>
                  <a:srgbClr val="FFFFFF"/>
                </a:solidFill>
              </a:rPr>
              <a:t> </a:t>
            </a:r>
            <a:r>
              <a:rPr sz="3200" b="1" dirty="0" err="1">
                <a:solidFill>
                  <a:srgbClr val="FFFFFF"/>
                </a:solidFill>
              </a:rPr>
              <a:t>сайта</a:t>
            </a:r>
            <a:r>
              <a:rPr sz="3200" b="1" dirty="0">
                <a:solidFill>
                  <a:srgbClr val="FFFFFF"/>
                </a:solidFill>
              </a:rPr>
              <a:t> «</a:t>
            </a:r>
            <a:r>
              <a:rPr sz="3200" b="1" dirty="0" err="1">
                <a:solidFill>
                  <a:srgbClr val="FFFFFF"/>
                </a:solidFill>
              </a:rPr>
              <a:t>Alimma</a:t>
            </a:r>
            <a:r>
              <a:rPr sz="3200" b="1" dirty="0">
                <a:solidFill>
                  <a:srgbClr val="FFFFFF"/>
                </a:solidFill>
              </a:rPr>
              <a:t>»</a:t>
            </a:r>
          </a:p>
        </p:txBody>
      </p:sp>
      <p:sp>
        <p:nvSpPr>
          <p:cNvPr id="7" name="Rectangle 6"/>
          <p:cNvSpPr/>
          <p:nvPr/>
        </p:nvSpPr>
        <p:spPr>
          <a:xfrm>
            <a:off x="1" y="5894849"/>
            <a:ext cx="8159752" cy="223117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9" name="TextBox 8"/>
          <p:cNvSpPr txBox="1"/>
          <p:nvPr/>
        </p:nvSpPr>
        <p:spPr>
          <a:xfrm>
            <a:off x="7545632" y="5848686"/>
            <a:ext cx="6003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400" dirty="0">
                <a:solidFill>
                  <a:srgbClr val="009BD8"/>
                </a:solidFill>
              </a:rPr>
              <a:t>14</a:t>
            </a:r>
            <a:endParaRPr sz="1400" dirty="0">
              <a:solidFill>
                <a:srgbClr val="009BD8"/>
              </a:solidFill>
            </a:endParaRPr>
          </a:p>
        </p:txBody>
      </p:sp>
      <p:graphicFrame>
        <p:nvGraphicFramePr>
          <p:cNvPr id="999" name="TC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299784"/>
              </p:ext>
            </p:extLst>
          </p:nvPr>
        </p:nvGraphicFramePr>
        <p:xfrm>
          <a:off x="33618" y="1057524"/>
          <a:ext cx="8056498" cy="4819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7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5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42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3486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marL="27643" marR="27643" marT="13822" marB="13822"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FFFFFF"/>
                          </a:solidFill>
                        </a:rPr>
                        <a:t>Название</a:t>
                      </a:r>
                      <a:endParaRPr sz="1600" b="1" dirty="0">
                        <a:solidFill>
                          <a:srgbClr val="FFFFFF"/>
                        </a:solidFill>
                      </a:endParaRPr>
                    </a:p>
                  </a:txBody>
                  <a:tcPr marL="27643" marR="27643" marT="13822" marB="13822"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FFFFFF"/>
                          </a:solidFill>
                        </a:rPr>
                        <a:t>Модуль</a:t>
                      </a:r>
                      <a:endParaRPr sz="1600" b="1" dirty="0">
                        <a:solidFill>
                          <a:srgbClr val="FFFFFF"/>
                        </a:solidFill>
                      </a:endParaRPr>
                    </a:p>
                  </a:txBody>
                  <a:tcPr marL="27643" marR="27643" marT="13822" marB="13822"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FFFFFF"/>
                          </a:solidFill>
                        </a:rPr>
                        <a:t>Тип</a:t>
                      </a:r>
                      <a:endParaRPr sz="1600" b="1" dirty="0">
                        <a:solidFill>
                          <a:srgbClr val="FFFFFF"/>
                        </a:solidFill>
                      </a:endParaRPr>
                    </a:p>
                  </a:txBody>
                  <a:tcPr marL="27643" marR="27643" marT="13822" marB="13822"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FFFFFF"/>
                          </a:solidFill>
                        </a:rPr>
                        <a:t>Итог</a:t>
                      </a:r>
                      <a:endParaRPr sz="1600" b="1" dirty="0">
                        <a:solidFill>
                          <a:srgbClr val="FFFFFF"/>
                        </a:solidFill>
                      </a:endParaRPr>
                    </a:p>
                  </a:txBody>
                  <a:tcPr marL="27643" marR="27643" marT="13822" marB="13822">
                    <a:solidFill>
                      <a:srgbClr val="0D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024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009BD8"/>
                          </a:solidFill>
                        </a:rPr>
                        <a:t>TC-01</a:t>
                      </a:r>
                    </a:p>
                  </a:txBody>
                  <a:tcPr marL="27643" marR="27643" marT="13822" marB="13822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333344"/>
                          </a:solidFill>
                        </a:rPr>
                        <a:t>Загрузка</a:t>
                      </a:r>
                      <a:r>
                        <a:rPr sz="1400" b="0" dirty="0">
                          <a:solidFill>
                            <a:srgbClr val="333344"/>
                          </a:solidFill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33344"/>
                          </a:solidFill>
                        </a:rPr>
                        <a:t>главной</a:t>
                      </a:r>
                      <a:r>
                        <a:rPr sz="1400" b="0" dirty="0">
                          <a:solidFill>
                            <a:srgbClr val="333344"/>
                          </a:solidFill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33344"/>
                          </a:solidFill>
                        </a:rPr>
                        <a:t>страницы</a:t>
                      </a:r>
                      <a:endParaRPr sz="1400" b="0" dirty="0">
                        <a:solidFill>
                          <a:srgbClr val="333344"/>
                        </a:solidFill>
                      </a:endParaRPr>
                    </a:p>
                  </a:txBody>
                  <a:tcPr marL="27643" marR="27643" marT="13822" marB="13822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444455"/>
                          </a:solidFill>
                        </a:rPr>
                        <a:t>Главная</a:t>
                      </a:r>
                      <a:endParaRPr sz="1200" b="0" dirty="0">
                        <a:solidFill>
                          <a:srgbClr val="444455"/>
                        </a:solidFill>
                      </a:endParaRPr>
                    </a:p>
                  </a:txBody>
                  <a:tcPr marL="27643" marR="27643" marT="13822" marB="13822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D5C2E"/>
                          </a:solidFill>
                        </a:rPr>
                        <a:t>Позитивный</a:t>
                      </a:r>
                    </a:p>
                  </a:txBody>
                  <a:tcPr marL="27643" marR="27643" marT="13822" marB="13822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6B3C"/>
                          </a:solidFill>
                        </a:rPr>
                        <a:t>✓ Пройден</a:t>
                      </a:r>
                    </a:p>
                  </a:txBody>
                  <a:tcPr marL="27643" marR="27643" marT="13822" marB="13822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02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9BD8"/>
                          </a:solidFill>
                        </a:rPr>
                        <a:t>TC-02</a:t>
                      </a:r>
                    </a:p>
                  </a:txBody>
                  <a:tcPr marL="27643" marR="27643" marT="13822" marB="138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333344"/>
                          </a:solidFill>
                        </a:rPr>
                        <a:t>Навигация</a:t>
                      </a:r>
                      <a:r>
                        <a:rPr sz="1400" b="0" dirty="0">
                          <a:solidFill>
                            <a:srgbClr val="333344"/>
                          </a:solidFill>
                        </a:rPr>
                        <a:t>: </a:t>
                      </a:r>
                      <a:r>
                        <a:rPr sz="1400" b="0" dirty="0" err="1">
                          <a:solidFill>
                            <a:srgbClr val="333344"/>
                          </a:solidFill>
                        </a:rPr>
                        <a:t>переход</a:t>
                      </a:r>
                      <a:r>
                        <a:rPr sz="1400" b="0" dirty="0">
                          <a:solidFill>
                            <a:srgbClr val="333344"/>
                          </a:solidFill>
                        </a:rPr>
                        <a:t> в </a:t>
                      </a:r>
                      <a:r>
                        <a:rPr sz="1400" b="0" dirty="0" err="1">
                          <a:solidFill>
                            <a:srgbClr val="333344"/>
                          </a:solidFill>
                        </a:rPr>
                        <a:t>раздел</a:t>
                      </a:r>
                      <a:r>
                        <a:rPr sz="1400" b="0" dirty="0">
                          <a:solidFill>
                            <a:srgbClr val="333344"/>
                          </a:solidFill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33344"/>
                          </a:solidFill>
                        </a:rPr>
                        <a:t>Врачи</a:t>
                      </a:r>
                      <a:endParaRPr sz="1400" b="0" dirty="0">
                        <a:solidFill>
                          <a:srgbClr val="333344"/>
                        </a:solidFill>
                      </a:endParaRPr>
                    </a:p>
                  </a:txBody>
                  <a:tcPr marL="27643" marR="27643" marT="13822" marB="138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444455"/>
                          </a:solidFill>
                        </a:rPr>
                        <a:t>Меню</a:t>
                      </a:r>
                      <a:endParaRPr sz="1200" b="0" dirty="0">
                        <a:solidFill>
                          <a:srgbClr val="444455"/>
                        </a:solidFill>
                      </a:endParaRPr>
                    </a:p>
                  </a:txBody>
                  <a:tcPr marL="27643" marR="27643" marT="13822" marB="138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D5C2E"/>
                          </a:solidFill>
                        </a:rPr>
                        <a:t>Позитивный</a:t>
                      </a:r>
                    </a:p>
                  </a:txBody>
                  <a:tcPr marL="27643" marR="27643" marT="13822" marB="138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6B3C"/>
                          </a:solidFill>
                        </a:rPr>
                        <a:t>✓ Пройден</a:t>
                      </a:r>
                    </a:p>
                  </a:txBody>
                  <a:tcPr marL="27643" marR="27643" marT="13822" marB="13822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02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9BD8"/>
                          </a:solidFill>
                        </a:rPr>
                        <a:t>TC-03</a:t>
                      </a:r>
                    </a:p>
                  </a:txBody>
                  <a:tcPr marL="27643" marR="27643" marT="13822" marB="13822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333344"/>
                          </a:solidFill>
                        </a:rPr>
                        <a:t>Навигация</a:t>
                      </a:r>
                      <a:r>
                        <a:rPr sz="1400" b="0" dirty="0">
                          <a:solidFill>
                            <a:srgbClr val="333344"/>
                          </a:solidFill>
                        </a:rPr>
                        <a:t>: </a:t>
                      </a:r>
                      <a:r>
                        <a:rPr sz="1400" b="0" dirty="0" err="1">
                          <a:solidFill>
                            <a:srgbClr val="333344"/>
                          </a:solidFill>
                        </a:rPr>
                        <a:t>Врачи</a:t>
                      </a:r>
                      <a:r>
                        <a:rPr sz="1400" b="0" dirty="0">
                          <a:solidFill>
                            <a:srgbClr val="333344"/>
                          </a:solidFill>
                        </a:rPr>
                        <a:t> → </a:t>
                      </a:r>
                      <a:r>
                        <a:rPr sz="1400" b="0" dirty="0" err="1">
                          <a:solidFill>
                            <a:srgbClr val="333344"/>
                          </a:solidFill>
                        </a:rPr>
                        <a:t>Ревматолог</a:t>
                      </a:r>
                      <a:endParaRPr sz="1400" b="0" dirty="0">
                        <a:solidFill>
                          <a:srgbClr val="333344"/>
                        </a:solidFill>
                      </a:endParaRPr>
                    </a:p>
                  </a:txBody>
                  <a:tcPr marL="27643" marR="27643" marT="13822" marB="13822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444455"/>
                          </a:solidFill>
                        </a:rPr>
                        <a:t>Меню</a:t>
                      </a:r>
                      <a:endParaRPr sz="1200" b="0" dirty="0">
                        <a:solidFill>
                          <a:srgbClr val="444455"/>
                        </a:solidFill>
                      </a:endParaRPr>
                    </a:p>
                  </a:txBody>
                  <a:tcPr marL="27643" marR="27643" marT="13822" marB="13822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D5C2E"/>
                          </a:solidFill>
                        </a:rPr>
                        <a:t>Позитивный</a:t>
                      </a:r>
                    </a:p>
                  </a:txBody>
                  <a:tcPr marL="27643" marR="27643" marT="13822" marB="13822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6B3C"/>
                          </a:solidFill>
                        </a:rPr>
                        <a:t>✓ Пройден</a:t>
                      </a:r>
                    </a:p>
                  </a:txBody>
                  <a:tcPr marL="27643" marR="27643" marT="13822" marB="13822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02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9BD8"/>
                          </a:solidFill>
                        </a:rPr>
                        <a:t>TC-04</a:t>
                      </a:r>
                    </a:p>
                  </a:txBody>
                  <a:tcPr marL="27643" marR="27643" marT="13822" marB="138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333344"/>
                          </a:solidFill>
                        </a:rPr>
                        <a:t>Пагинация</a:t>
                      </a:r>
                      <a:r>
                        <a:rPr sz="1400" b="0" dirty="0">
                          <a:solidFill>
                            <a:srgbClr val="333344"/>
                          </a:solidFill>
                        </a:rPr>
                        <a:t>: </a:t>
                      </a:r>
                      <a:r>
                        <a:rPr sz="1400" b="0" dirty="0" err="1">
                          <a:solidFill>
                            <a:srgbClr val="333344"/>
                          </a:solidFill>
                        </a:rPr>
                        <a:t>кнопка</a:t>
                      </a:r>
                      <a:r>
                        <a:rPr sz="1400" b="0" dirty="0">
                          <a:solidFill>
                            <a:srgbClr val="333344"/>
                          </a:solidFill>
                        </a:rPr>
                        <a:t> с </a:t>
                      </a:r>
                      <a:r>
                        <a:rPr sz="1400" b="0" dirty="0" err="1">
                          <a:solidFill>
                            <a:srgbClr val="333344"/>
                          </a:solidFill>
                        </a:rPr>
                        <a:t>цифрой</a:t>
                      </a:r>
                      <a:r>
                        <a:rPr sz="1400" b="0" dirty="0">
                          <a:solidFill>
                            <a:srgbClr val="333344"/>
                          </a:solidFill>
                        </a:rPr>
                        <a:t> 2</a:t>
                      </a:r>
                    </a:p>
                  </a:txBody>
                  <a:tcPr marL="27643" marR="27643" marT="13822" marB="138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444455"/>
                          </a:solidFill>
                        </a:rPr>
                        <a:t>Услуги</a:t>
                      </a:r>
                      <a:endParaRPr sz="1200" b="0" dirty="0">
                        <a:solidFill>
                          <a:srgbClr val="444455"/>
                        </a:solidFill>
                      </a:endParaRPr>
                    </a:p>
                  </a:txBody>
                  <a:tcPr marL="27643" marR="27643" marT="13822" marB="138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0D5C2E"/>
                          </a:solidFill>
                        </a:rPr>
                        <a:t>Позитивный</a:t>
                      </a:r>
                      <a:endParaRPr sz="1200" b="0" dirty="0">
                        <a:solidFill>
                          <a:srgbClr val="0D5C2E"/>
                        </a:solidFill>
                      </a:endParaRPr>
                    </a:p>
                  </a:txBody>
                  <a:tcPr marL="27643" marR="27643" marT="13822" marB="138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6B3C"/>
                          </a:solidFill>
                        </a:rPr>
                        <a:t>✓ </a:t>
                      </a:r>
                      <a:r>
                        <a:rPr sz="1200" b="1" dirty="0" err="1">
                          <a:solidFill>
                            <a:srgbClr val="1A6B3C"/>
                          </a:solidFill>
                        </a:rPr>
                        <a:t>Пройден</a:t>
                      </a:r>
                      <a:endParaRPr sz="1200" b="1" dirty="0">
                        <a:solidFill>
                          <a:srgbClr val="1A6B3C"/>
                        </a:solidFill>
                      </a:endParaRPr>
                    </a:p>
                  </a:txBody>
                  <a:tcPr marL="27643" marR="27643" marT="13822" marB="13822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02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9BD8"/>
                          </a:solidFill>
                        </a:rPr>
                        <a:t>TC-05</a:t>
                      </a:r>
                    </a:p>
                  </a:txBody>
                  <a:tcPr marL="27643" marR="27643" marT="13822" marB="13822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333344"/>
                          </a:solidFill>
                        </a:rPr>
                        <a:t>Пагинация</a:t>
                      </a:r>
                      <a:r>
                        <a:rPr sz="1400" b="0" dirty="0">
                          <a:solidFill>
                            <a:srgbClr val="333344"/>
                          </a:solidFill>
                        </a:rPr>
                        <a:t>: </a:t>
                      </a:r>
                      <a:r>
                        <a:rPr sz="1400" b="0" dirty="0" err="1">
                          <a:solidFill>
                            <a:srgbClr val="333344"/>
                          </a:solidFill>
                        </a:rPr>
                        <a:t>кнопка</a:t>
                      </a:r>
                      <a:r>
                        <a:rPr sz="1400" b="0" dirty="0">
                          <a:solidFill>
                            <a:srgbClr val="333344"/>
                          </a:solidFill>
                        </a:rPr>
                        <a:t> Next (</a:t>
                      </a:r>
                      <a:r>
                        <a:rPr sz="1400" b="0" dirty="0" err="1">
                          <a:solidFill>
                            <a:srgbClr val="333344"/>
                          </a:solidFill>
                        </a:rPr>
                        <a:t>вправо</a:t>
                      </a:r>
                      <a:r>
                        <a:rPr sz="1400" b="0" dirty="0">
                          <a:solidFill>
                            <a:srgbClr val="333344"/>
                          </a:solidFill>
                        </a:rPr>
                        <a:t>)</a:t>
                      </a:r>
                    </a:p>
                  </a:txBody>
                  <a:tcPr marL="27643" marR="27643" marT="13822" marB="13822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444455"/>
                          </a:solidFill>
                        </a:rPr>
                        <a:t>Услуги</a:t>
                      </a:r>
                      <a:endParaRPr sz="1200" b="0" dirty="0">
                        <a:solidFill>
                          <a:srgbClr val="444455"/>
                        </a:solidFill>
                      </a:endParaRPr>
                    </a:p>
                  </a:txBody>
                  <a:tcPr marL="27643" marR="27643" marT="13822" marB="13822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455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solidFill>
                            <a:srgbClr val="0D5C2E"/>
                          </a:solidFill>
                        </a:rPr>
                        <a:t>Позитивный</a:t>
                      </a:r>
                    </a:p>
                  </a:txBody>
                  <a:tcPr marL="27643" marR="27643" marT="13822" marB="13822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rgbClr val="1A6B3C"/>
                          </a:solidFill>
                        </a:rPr>
                        <a:t>✓ Пройден</a:t>
                      </a:r>
                    </a:p>
                  </a:txBody>
                  <a:tcPr marL="27643" marR="27643" marT="13822" marB="13822"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02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9BD8"/>
                          </a:solidFill>
                        </a:rPr>
                        <a:t>TC-06</a:t>
                      </a:r>
                    </a:p>
                  </a:txBody>
                  <a:tcPr marL="27643" marR="27643" marT="13822" marB="138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333344"/>
                          </a:solidFill>
                        </a:rPr>
                        <a:t>Отображение</a:t>
                      </a:r>
                      <a:r>
                        <a:rPr sz="1400" b="0" dirty="0">
                          <a:solidFill>
                            <a:srgbClr val="333344"/>
                          </a:solidFill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33344"/>
                          </a:solidFill>
                        </a:rPr>
                        <a:t>цен</a:t>
                      </a:r>
                      <a:r>
                        <a:rPr sz="1400" b="0" dirty="0">
                          <a:solidFill>
                            <a:srgbClr val="333344"/>
                          </a:solidFill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33344"/>
                          </a:solidFill>
                        </a:rPr>
                        <a:t>на</a:t>
                      </a:r>
                      <a:r>
                        <a:rPr sz="1400" b="0" dirty="0">
                          <a:solidFill>
                            <a:srgbClr val="333344"/>
                          </a:solidFill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33344"/>
                          </a:solidFill>
                        </a:rPr>
                        <a:t>услуги</a:t>
                      </a:r>
                      <a:endParaRPr sz="1400" b="0" dirty="0">
                        <a:solidFill>
                          <a:srgbClr val="333344"/>
                        </a:solidFill>
                      </a:endParaRPr>
                    </a:p>
                  </a:txBody>
                  <a:tcPr marL="27643" marR="27643" marT="13822" marB="138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444455"/>
                          </a:solidFill>
                        </a:rPr>
                        <a:t>Цены</a:t>
                      </a:r>
                      <a:endParaRPr sz="1200" b="0" dirty="0">
                        <a:solidFill>
                          <a:srgbClr val="444455"/>
                        </a:solidFill>
                      </a:endParaRPr>
                    </a:p>
                  </a:txBody>
                  <a:tcPr marL="27643" marR="27643" marT="13822" marB="138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D5C2E"/>
                          </a:solidFill>
                        </a:rPr>
                        <a:t>Позитивный</a:t>
                      </a:r>
                    </a:p>
                  </a:txBody>
                  <a:tcPr marL="27643" marR="27643" marT="13822" marB="138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6B3C"/>
                          </a:solidFill>
                        </a:rPr>
                        <a:t>✓ Пройден</a:t>
                      </a:r>
                    </a:p>
                  </a:txBody>
                  <a:tcPr marL="27643" marR="27643" marT="13822" marB="13822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02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9BD8"/>
                          </a:solidFill>
                        </a:rPr>
                        <a:t>TC-07</a:t>
                      </a:r>
                    </a:p>
                  </a:txBody>
                  <a:tcPr marL="27643" marR="27643" marT="13822" marB="13822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333344"/>
                          </a:solidFill>
                        </a:rPr>
                        <a:t>Клик</a:t>
                      </a:r>
                      <a:r>
                        <a:rPr sz="1400" b="0" dirty="0">
                          <a:solidFill>
                            <a:srgbClr val="333344"/>
                          </a:solidFill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33344"/>
                          </a:solidFill>
                        </a:rPr>
                        <a:t>логотипа</a:t>
                      </a:r>
                      <a:r>
                        <a:rPr sz="1400" b="0" dirty="0">
                          <a:solidFill>
                            <a:srgbClr val="333344"/>
                          </a:solidFill>
                        </a:rPr>
                        <a:t> → </a:t>
                      </a:r>
                      <a:r>
                        <a:rPr sz="1400" b="0" dirty="0" err="1">
                          <a:solidFill>
                            <a:srgbClr val="333344"/>
                          </a:solidFill>
                        </a:rPr>
                        <a:t>главная</a:t>
                      </a:r>
                      <a:r>
                        <a:rPr sz="1400" b="0" dirty="0">
                          <a:solidFill>
                            <a:srgbClr val="333344"/>
                          </a:solidFill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33344"/>
                          </a:solidFill>
                        </a:rPr>
                        <a:t>страница</a:t>
                      </a:r>
                      <a:endParaRPr sz="1400" b="0" dirty="0">
                        <a:solidFill>
                          <a:srgbClr val="333344"/>
                        </a:solidFill>
                      </a:endParaRPr>
                    </a:p>
                  </a:txBody>
                  <a:tcPr marL="27643" marR="27643" marT="13822" marB="13822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444455"/>
                          </a:solidFill>
                        </a:rPr>
                        <a:t>Навигация</a:t>
                      </a:r>
                      <a:endParaRPr sz="1200" b="0" dirty="0">
                        <a:solidFill>
                          <a:srgbClr val="444455"/>
                        </a:solidFill>
                      </a:endParaRPr>
                    </a:p>
                  </a:txBody>
                  <a:tcPr marL="27643" marR="27643" marT="13822" marB="13822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D5C2E"/>
                          </a:solidFill>
                        </a:rPr>
                        <a:t>Позитивный</a:t>
                      </a:r>
                    </a:p>
                  </a:txBody>
                  <a:tcPr marL="27643" marR="27643" marT="13822" marB="13822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6B3C"/>
                          </a:solidFill>
                        </a:rPr>
                        <a:t>✓ Пройден</a:t>
                      </a:r>
                    </a:p>
                  </a:txBody>
                  <a:tcPr marL="27643" marR="27643" marT="13822" marB="13822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02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9BD8"/>
                          </a:solidFill>
                        </a:rPr>
                        <a:t>TC-08</a:t>
                      </a:r>
                    </a:p>
                  </a:txBody>
                  <a:tcPr marL="27643" marR="27643" marT="13822" marB="138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44"/>
                          </a:solidFill>
                        </a:rPr>
                        <a:t>WhatsApp: открытие окна чата</a:t>
                      </a:r>
                    </a:p>
                  </a:txBody>
                  <a:tcPr marL="27643" marR="27643" marT="13822" marB="138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444455"/>
                          </a:solidFill>
                        </a:rPr>
                        <a:t>Виджет</a:t>
                      </a:r>
                      <a:endParaRPr sz="1200" b="0" dirty="0">
                        <a:solidFill>
                          <a:srgbClr val="444455"/>
                        </a:solidFill>
                      </a:endParaRPr>
                    </a:p>
                  </a:txBody>
                  <a:tcPr marL="27643" marR="27643" marT="13822" marB="138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D5C2E"/>
                          </a:solidFill>
                        </a:rPr>
                        <a:t>Позитивный</a:t>
                      </a:r>
                    </a:p>
                  </a:txBody>
                  <a:tcPr marL="27643" marR="27643" marT="13822" marB="138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6B3C"/>
                          </a:solidFill>
                        </a:rPr>
                        <a:t>✓ Пройден</a:t>
                      </a:r>
                    </a:p>
                  </a:txBody>
                  <a:tcPr marL="27643" marR="27643" marT="13822" marB="13822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02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9BD8"/>
                          </a:solidFill>
                        </a:rPr>
                        <a:t>TC-09</a:t>
                      </a:r>
                    </a:p>
                  </a:txBody>
                  <a:tcPr marL="27643" marR="27643" marT="13822" marB="13822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44"/>
                          </a:solidFill>
                        </a:rPr>
                        <a:t>WhatsApp: отправка сообщения</a:t>
                      </a:r>
                    </a:p>
                  </a:txBody>
                  <a:tcPr marL="27643" marR="27643" marT="13822" marB="13822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444455"/>
                          </a:solidFill>
                        </a:rPr>
                        <a:t>Виджет</a:t>
                      </a:r>
                      <a:endParaRPr sz="1200" b="0" dirty="0">
                        <a:solidFill>
                          <a:srgbClr val="444455"/>
                        </a:solidFill>
                      </a:endParaRPr>
                    </a:p>
                  </a:txBody>
                  <a:tcPr marL="27643" marR="27643" marT="13822" marB="13822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D5C2E"/>
                          </a:solidFill>
                        </a:rPr>
                        <a:t>Позитивный</a:t>
                      </a:r>
                    </a:p>
                  </a:txBody>
                  <a:tcPr marL="27643" marR="27643" marT="13822" marB="13822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6B3C"/>
                          </a:solidFill>
                        </a:rPr>
                        <a:t>✓ Пройден</a:t>
                      </a:r>
                    </a:p>
                  </a:txBody>
                  <a:tcPr marL="27643" marR="27643" marT="13822" marB="13822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102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9BD8"/>
                          </a:solidFill>
                        </a:rPr>
                        <a:t>TC-10</a:t>
                      </a:r>
                    </a:p>
                  </a:txBody>
                  <a:tcPr marL="27643" marR="27643" marT="13822" marB="138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44"/>
                          </a:solidFill>
                        </a:rPr>
                        <a:t>Просмотр анкеты врача</a:t>
                      </a:r>
                    </a:p>
                  </a:txBody>
                  <a:tcPr marL="27643" marR="27643" marT="13822" marB="138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444455"/>
                          </a:solidFill>
                        </a:rPr>
                        <a:t>Врачи</a:t>
                      </a:r>
                      <a:endParaRPr sz="1200" b="0" dirty="0">
                        <a:solidFill>
                          <a:srgbClr val="444455"/>
                        </a:solidFill>
                      </a:endParaRPr>
                    </a:p>
                  </a:txBody>
                  <a:tcPr marL="27643" marR="27643" marT="13822" marB="138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D5C2E"/>
                          </a:solidFill>
                        </a:rPr>
                        <a:t>Позитивный</a:t>
                      </a:r>
                    </a:p>
                  </a:txBody>
                  <a:tcPr marL="27643" marR="27643" marT="13822" marB="138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6B3C"/>
                          </a:solidFill>
                        </a:rPr>
                        <a:t>✓ Пройден</a:t>
                      </a:r>
                    </a:p>
                  </a:txBody>
                  <a:tcPr marL="27643" marR="27643" marT="13822" marB="13822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02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9BD8"/>
                          </a:solidFill>
                        </a:rPr>
                        <a:t>TC-11</a:t>
                      </a:r>
                    </a:p>
                  </a:txBody>
                  <a:tcPr marL="27643" marR="27643" marT="13822" marB="13822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44"/>
                          </a:solidFill>
                        </a:rPr>
                        <a:t>Навигация через карусель Услуг</a:t>
                      </a:r>
                    </a:p>
                  </a:txBody>
                  <a:tcPr marL="27643" marR="27643" marT="13822" marB="13822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444455"/>
                          </a:solidFill>
                        </a:rPr>
                        <a:t>Главная</a:t>
                      </a:r>
                      <a:endParaRPr sz="1200" b="0" dirty="0">
                        <a:solidFill>
                          <a:srgbClr val="444455"/>
                        </a:solidFill>
                      </a:endParaRPr>
                    </a:p>
                  </a:txBody>
                  <a:tcPr marL="27643" marR="27643" marT="13822" marB="13822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D5C2E"/>
                          </a:solidFill>
                        </a:rPr>
                        <a:t>Позитивный</a:t>
                      </a:r>
                    </a:p>
                  </a:txBody>
                  <a:tcPr marL="27643" marR="27643" marT="13822" marB="13822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6B3C"/>
                          </a:solidFill>
                        </a:rPr>
                        <a:t>✓ </a:t>
                      </a:r>
                      <a:r>
                        <a:rPr sz="1200" b="1" dirty="0" err="1">
                          <a:solidFill>
                            <a:srgbClr val="1A6B3C"/>
                          </a:solidFill>
                        </a:rPr>
                        <a:t>Пройден</a:t>
                      </a:r>
                      <a:endParaRPr sz="1200" b="1" dirty="0">
                        <a:solidFill>
                          <a:srgbClr val="1A6B3C"/>
                        </a:solidFill>
                      </a:endParaRPr>
                    </a:p>
                  </a:txBody>
                  <a:tcPr marL="27643" marR="27643" marT="13822" marB="13822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102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9BD8"/>
                          </a:solidFill>
                        </a:rPr>
                        <a:t>TC-12</a:t>
                      </a:r>
                    </a:p>
                  </a:txBody>
                  <a:tcPr marL="27643" marR="27643" marT="13822" marB="138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44"/>
                          </a:solidFill>
                        </a:rPr>
                        <a:t>Переход на портал Prodoctorov</a:t>
                      </a:r>
                    </a:p>
                  </a:txBody>
                  <a:tcPr marL="27643" marR="27643" marT="13822" marB="138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444455"/>
                          </a:solidFill>
                        </a:rPr>
                        <a:t>Врачи</a:t>
                      </a:r>
                      <a:endParaRPr sz="1200" b="0" dirty="0">
                        <a:solidFill>
                          <a:srgbClr val="444455"/>
                        </a:solidFill>
                      </a:endParaRPr>
                    </a:p>
                  </a:txBody>
                  <a:tcPr marL="27643" marR="27643" marT="13822" marB="138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8B0000"/>
                          </a:solidFill>
                        </a:rPr>
                        <a:t>Негативный</a:t>
                      </a:r>
                      <a:endParaRPr sz="1200" b="0" dirty="0">
                        <a:solidFill>
                          <a:srgbClr val="8B0000"/>
                        </a:solidFill>
                      </a:endParaRPr>
                    </a:p>
                  </a:txBody>
                  <a:tcPr marL="27643" marR="27643" marT="13822" marB="138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</a:rPr>
                        <a:t>✗ Не пройден</a:t>
                      </a:r>
                    </a:p>
                  </a:txBody>
                  <a:tcPr marL="27643" marR="27643" marT="13822" marB="13822"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102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9BD8"/>
                          </a:solidFill>
                        </a:rPr>
                        <a:t>TC-13</a:t>
                      </a:r>
                    </a:p>
                  </a:txBody>
                  <a:tcPr marL="27643" marR="27643" marT="13822" marB="13822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44"/>
                          </a:solidFill>
                        </a:rPr>
                        <a:t>Запись: валидные данные</a:t>
                      </a:r>
                    </a:p>
                  </a:txBody>
                  <a:tcPr marL="27643" marR="27643" marT="13822" marB="13822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55"/>
                          </a:solidFill>
                        </a:rPr>
                        <a:t>Форма</a:t>
                      </a:r>
                    </a:p>
                  </a:txBody>
                  <a:tcPr marL="27643" marR="27643" marT="13822" marB="13822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0D5C2E"/>
                          </a:solidFill>
                        </a:rPr>
                        <a:t>Позитивный</a:t>
                      </a:r>
                      <a:endParaRPr sz="1200" b="0" dirty="0">
                        <a:solidFill>
                          <a:srgbClr val="0D5C2E"/>
                        </a:solidFill>
                      </a:endParaRPr>
                    </a:p>
                  </a:txBody>
                  <a:tcPr marL="27643" marR="27643" marT="13822" marB="13822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6B3C"/>
                          </a:solidFill>
                        </a:rPr>
                        <a:t>✓ Пройден</a:t>
                      </a:r>
                    </a:p>
                  </a:txBody>
                  <a:tcPr marL="27643" marR="27643" marT="13822" marB="13822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102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9BD8"/>
                          </a:solidFill>
                        </a:rPr>
                        <a:t>TC-14</a:t>
                      </a:r>
                    </a:p>
                  </a:txBody>
                  <a:tcPr marL="27643" marR="27643" marT="13822" marB="138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44"/>
                          </a:solidFill>
                        </a:rPr>
                        <a:t>Запись: незаполненная форма</a:t>
                      </a:r>
                    </a:p>
                  </a:txBody>
                  <a:tcPr marL="27643" marR="27643" marT="13822" marB="138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55"/>
                          </a:solidFill>
                        </a:rPr>
                        <a:t>Форма</a:t>
                      </a:r>
                    </a:p>
                  </a:txBody>
                  <a:tcPr marL="27643" marR="27643" marT="13822" marB="138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B0000"/>
                          </a:solidFill>
                        </a:rPr>
                        <a:t>Негативный</a:t>
                      </a:r>
                    </a:p>
                  </a:txBody>
                  <a:tcPr marL="27643" marR="27643" marT="13822" marB="138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C0392B"/>
                          </a:solidFill>
                        </a:rPr>
                        <a:t>✗ </a:t>
                      </a:r>
                      <a:r>
                        <a:rPr sz="1200" b="1" dirty="0" err="1">
                          <a:solidFill>
                            <a:srgbClr val="C0392B"/>
                          </a:solidFill>
                        </a:rPr>
                        <a:t>Не</a:t>
                      </a:r>
                      <a:r>
                        <a:rPr sz="1200" b="1" dirty="0">
                          <a:solidFill>
                            <a:srgbClr val="C0392B"/>
                          </a:solidFill>
                        </a:rPr>
                        <a:t> </a:t>
                      </a:r>
                      <a:r>
                        <a:rPr sz="1200" b="1" dirty="0" err="1">
                          <a:solidFill>
                            <a:srgbClr val="C0392B"/>
                          </a:solidFill>
                        </a:rPr>
                        <a:t>пройден</a:t>
                      </a:r>
                      <a:endParaRPr sz="1200" b="1" dirty="0">
                        <a:solidFill>
                          <a:srgbClr val="C0392B"/>
                        </a:solidFill>
                      </a:endParaRPr>
                    </a:p>
                  </a:txBody>
                  <a:tcPr marL="27643" marR="27643" marT="13822" marB="13822"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102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9BD8"/>
                          </a:solidFill>
                        </a:rPr>
                        <a:t>TC-15</a:t>
                      </a:r>
                    </a:p>
                  </a:txBody>
                  <a:tcPr marL="27643" marR="27643" marT="13822" marB="13822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333344"/>
                          </a:solidFill>
                        </a:rPr>
                        <a:t>Запись</a:t>
                      </a:r>
                      <a:r>
                        <a:rPr sz="1400" b="0" dirty="0">
                          <a:solidFill>
                            <a:srgbClr val="333344"/>
                          </a:solidFill>
                        </a:rPr>
                        <a:t>: </a:t>
                      </a:r>
                      <a:r>
                        <a:rPr sz="1400" b="0" dirty="0" err="1">
                          <a:solidFill>
                            <a:srgbClr val="333344"/>
                          </a:solidFill>
                        </a:rPr>
                        <a:t>невалидные</a:t>
                      </a:r>
                      <a:r>
                        <a:rPr sz="1400" b="0" dirty="0">
                          <a:solidFill>
                            <a:srgbClr val="333344"/>
                          </a:solidFill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33344"/>
                          </a:solidFill>
                        </a:rPr>
                        <a:t>данные</a:t>
                      </a:r>
                      <a:endParaRPr sz="1400" b="0" dirty="0">
                        <a:solidFill>
                          <a:srgbClr val="333344"/>
                        </a:solidFill>
                      </a:endParaRPr>
                    </a:p>
                  </a:txBody>
                  <a:tcPr marL="27643" marR="27643" marT="13822" marB="13822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55"/>
                          </a:solidFill>
                        </a:rPr>
                        <a:t>Форма</a:t>
                      </a:r>
                    </a:p>
                  </a:txBody>
                  <a:tcPr marL="27643" marR="27643" marT="13822" marB="13822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B0000"/>
                          </a:solidFill>
                        </a:rPr>
                        <a:t>Негативный</a:t>
                      </a:r>
                    </a:p>
                  </a:txBody>
                  <a:tcPr marL="27643" marR="27643" marT="13822" marB="13822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C0392B"/>
                          </a:solidFill>
                        </a:rPr>
                        <a:t>✗ </a:t>
                      </a:r>
                      <a:r>
                        <a:rPr sz="1200" b="1" dirty="0" err="1">
                          <a:solidFill>
                            <a:srgbClr val="C0392B"/>
                          </a:solidFill>
                        </a:rPr>
                        <a:t>Не</a:t>
                      </a:r>
                      <a:r>
                        <a:rPr sz="1200" b="1" dirty="0">
                          <a:solidFill>
                            <a:srgbClr val="C0392B"/>
                          </a:solidFill>
                        </a:rPr>
                        <a:t> </a:t>
                      </a:r>
                      <a:r>
                        <a:rPr sz="1200" b="1" dirty="0" err="1">
                          <a:solidFill>
                            <a:srgbClr val="C0392B"/>
                          </a:solidFill>
                        </a:rPr>
                        <a:t>пройден</a:t>
                      </a:r>
                      <a:endParaRPr sz="1200" b="1" dirty="0">
                        <a:solidFill>
                          <a:srgbClr val="C0392B"/>
                        </a:solidFill>
                      </a:endParaRPr>
                    </a:p>
                  </a:txBody>
                  <a:tcPr marL="27643" marR="27643" marT="13822" marB="13822"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1024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009BD8"/>
                          </a:solidFill>
                        </a:rPr>
                        <a:t>TC-16</a:t>
                      </a:r>
                    </a:p>
                  </a:txBody>
                  <a:tcPr marL="27643" marR="27643" marT="13822" marB="138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333344"/>
                          </a:solidFill>
                        </a:rPr>
                        <a:t>Запись</a:t>
                      </a:r>
                      <a:r>
                        <a:rPr sz="1400" b="0" dirty="0">
                          <a:solidFill>
                            <a:srgbClr val="333344"/>
                          </a:solidFill>
                        </a:rPr>
                        <a:t>: </a:t>
                      </a:r>
                      <a:r>
                        <a:rPr sz="1400" b="0" dirty="0" err="1">
                          <a:solidFill>
                            <a:srgbClr val="333344"/>
                          </a:solidFill>
                        </a:rPr>
                        <a:t>неполные</a:t>
                      </a:r>
                      <a:r>
                        <a:rPr sz="1400" b="0" dirty="0">
                          <a:solidFill>
                            <a:srgbClr val="333344"/>
                          </a:solidFill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33344"/>
                          </a:solidFill>
                        </a:rPr>
                        <a:t>данные</a:t>
                      </a:r>
                      <a:endParaRPr sz="1400" b="0" dirty="0">
                        <a:solidFill>
                          <a:srgbClr val="333344"/>
                        </a:solidFill>
                      </a:endParaRPr>
                    </a:p>
                  </a:txBody>
                  <a:tcPr marL="27643" marR="27643" marT="13822" marB="138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55"/>
                          </a:solidFill>
                        </a:rPr>
                        <a:t>Форма</a:t>
                      </a:r>
                    </a:p>
                  </a:txBody>
                  <a:tcPr marL="27643" marR="27643" marT="13822" marB="138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B0000"/>
                          </a:solidFill>
                        </a:rPr>
                        <a:t>Негативный</a:t>
                      </a:r>
                    </a:p>
                  </a:txBody>
                  <a:tcPr marL="27643" marR="27643" marT="13822" marB="138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C0392B"/>
                          </a:solidFill>
                        </a:rPr>
                        <a:t>✗ </a:t>
                      </a:r>
                      <a:r>
                        <a:rPr sz="1200" b="1" dirty="0" err="1">
                          <a:solidFill>
                            <a:srgbClr val="C0392B"/>
                          </a:solidFill>
                        </a:rPr>
                        <a:t>Не</a:t>
                      </a:r>
                      <a:r>
                        <a:rPr sz="1200" b="1" dirty="0">
                          <a:solidFill>
                            <a:srgbClr val="C0392B"/>
                          </a:solidFill>
                        </a:rPr>
                        <a:t> </a:t>
                      </a:r>
                      <a:r>
                        <a:rPr sz="1200" b="1" dirty="0" err="1">
                          <a:solidFill>
                            <a:srgbClr val="C0392B"/>
                          </a:solidFill>
                        </a:rPr>
                        <a:t>пройден</a:t>
                      </a:r>
                      <a:endParaRPr sz="1200" b="1" dirty="0">
                        <a:solidFill>
                          <a:srgbClr val="C0392B"/>
                        </a:solidFill>
                      </a:endParaRPr>
                    </a:p>
                  </a:txBody>
                  <a:tcPr marL="27643" marR="27643" marT="13822" marB="13822"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764B6F7-EB36-E484-70A8-C4B519DA6E34}"/>
              </a:ext>
            </a:extLst>
          </p:cNvPr>
          <p:cNvSpPr/>
          <p:nvPr/>
        </p:nvSpPr>
        <p:spPr>
          <a:xfrm>
            <a:off x="1" y="934813"/>
            <a:ext cx="8159752" cy="45719"/>
          </a:xfrm>
          <a:prstGeom prst="rect">
            <a:avLst/>
          </a:prstGeom>
          <a:solidFill>
            <a:srgbClr val="009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68327"/>
            <a:ext cx="8159751" cy="565148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3" name="Rectangle 2"/>
          <p:cNvSpPr/>
          <p:nvPr/>
        </p:nvSpPr>
        <p:spPr>
          <a:xfrm>
            <a:off x="1" y="-4618"/>
            <a:ext cx="8159750" cy="94043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4" name="TextBox 3"/>
          <p:cNvSpPr txBox="1"/>
          <p:nvPr/>
        </p:nvSpPr>
        <p:spPr>
          <a:xfrm>
            <a:off x="82677" y="38041"/>
            <a:ext cx="8066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 err="1">
                <a:solidFill>
                  <a:srgbClr val="FFFFFF"/>
                </a:solidFill>
              </a:rPr>
              <a:t>Отчётность</a:t>
            </a:r>
            <a:r>
              <a:rPr sz="2800" b="1" dirty="0">
                <a:solidFill>
                  <a:srgbClr val="FFFFFF"/>
                </a:solidFill>
              </a:rPr>
              <a:t> — Allure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677" y="459526"/>
            <a:ext cx="7914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 err="1">
                <a:solidFill>
                  <a:srgbClr val="009BD8"/>
                </a:solidFill>
              </a:rPr>
              <a:t>Визуализация</a:t>
            </a:r>
            <a:r>
              <a:rPr dirty="0">
                <a:solidFill>
                  <a:srgbClr val="009BD8"/>
                </a:solidFill>
              </a:rPr>
              <a:t> </a:t>
            </a:r>
            <a:r>
              <a:rPr dirty="0" err="1">
                <a:solidFill>
                  <a:srgbClr val="009BD8"/>
                </a:solidFill>
              </a:rPr>
              <a:t>результатов</a:t>
            </a:r>
            <a:r>
              <a:rPr dirty="0">
                <a:solidFill>
                  <a:srgbClr val="009BD8"/>
                </a:solidFill>
              </a:rPr>
              <a:t> </a:t>
            </a:r>
            <a:r>
              <a:rPr dirty="0" err="1">
                <a:solidFill>
                  <a:srgbClr val="009BD8"/>
                </a:solidFill>
              </a:rPr>
              <a:t>прогона</a:t>
            </a:r>
            <a:r>
              <a:rPr dirty="0">
                <a:solidFill>
                  <a:srgbClr val="009BD8"/>
                </a:solidFill>
              </a:rPr>
              <a:t> </a:t>
            </a:r>
            <a:r>
              <a:rPr dirty="0" err="1">
                <a:solidFill>
                  <a:srgbClr val="009BD8"/>
                </a:solidFill>
              </a:rPr>
              <a:t>тестов</a:t>
            </a:r>
            <a:endParaRPr dirty="0">
              <a:solidFill>
                <a:srgbClr val="009BD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 flipV="1">
            <a:off x="-5327" y="890092"/>
            <a:ext cx="8165077" cy="45720"/>
          </a:xfrm>
          <a:prstGeom prst="rect">
            <a:avLst/>
          </a:prstGeom>
          <a:solidFill>
            <a:srgbClr val="009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7" name="Rectangle 6"/>
          <p:cNvSpPr/>
          <p:nvPr/>
        </p:nvSpPr>
        <p:spPr>
          <a:xfrm>
            <a:off x="-5327" y="5887772"/>
            <a:ext cx="8180259" cy="232041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9" name="TextBox 8"/>
          <p:cNvSpPr txBox="1"/>
          <p:nvPr/>
        </p:nvSpPr>
        <p:spPr>
          <a:xfrm>
            <a:off x="7687134" y="5842925"/>
            <a:ext cx="4560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400" dirty="0">
                <a:solidFill>
                  <a:srgbClr val="009BD8"/>
                </a:solidFill>
              </a:rPr>
              <a:t>15</a:t>
            </a:r>
            <a:endParaRPr sz="1400" dirty="0">
              <a:solidFill>
                <a:srgbClr val="009BD8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09729" y="991546"/>
            <a:ext cx="3865203" cy="4876855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 dirty="0"/>
          </a:p>
        </p:txBody>
      </p:sp>
      <p:sp>
        <p:nvSpPr>
          <p:cNvPr id="19" name="TextBox 18"/>
          <p:cNvSpPr txBox="1"/>
          <p:nvPr/>
        </p:nvSpPr>
        <p:spPr>
          <a:xfrm>
            <a:off x="4408110" y="3431339"/>
            <a:ext cx="37547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dirty="0" err="1">
                <a:solidFill>
                  <a:srgbClr val="AACCFF"/>
                </a:solidFill>
              </a:rPr>
              <a:t>Декораторы</a:t>
            </a:r>
            <a:r>
              <a:rPr sz="2400" dirty="0">
                <a:solidFill>
                  <a:srgbClr val="AACCFF"/>
                </a:solidFill>
              </a:rPr>
              <a:t> в </a:t>
            </a:r>
            <a:r>
              <a:rPr sz="2400" dirty="0" err="1">
                <a:solidFill>
                  <a:srgbClr val="AACCFF"/>
                </a:solidFill>
              </a:rPr>
              <a:t>тестах</a:t>
            </a:r>
            <a:r>
              <a:rPr sz="2400" dirty="0">
                <a:solidFill>
                  <a:srgbClr val="AACCFF"/>
                </a:solidFill>
              </a:rPr>
              <a:t>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55366" y="3885606"/>
            <a:ext cx="3738265" cy="595085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21" name="TextBox 20"/>
          <p:cNvSpPr txBox="1"/>
          <p:nvPr/>
        </p:nvSpPr>
        <p:spPr>
          <a:xfrm>
            <a:off x="4347611" y="4036597"/>
            <a:ext cx="36264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solidFill>
                  <a:srgbClr val="FFD78B"/>
                </a:solidFill>
              </a:rPr>
              <a:t>@allure.title("...")   — </a:t>
            </a:r>
            <a:r>
              <a:rPr lang="ru-RU" sz="1600" dirty="0">
                <a:solidFill>
                  <a:srgbClr val="FFD78B"/>
                </a:solidFill>
              </a:rPr>
              <a:t>название в отчете </a:t>
            </a:r>
            <a:endParaRPr sz="1600" dirty="0">
              <a:solidFill>
                <a:srgbClr val="FFD78B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347611" y="4530111"/>
            <a:ext cx="3746020" cy="649295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23" name="TextBox 22"/>
          <p:cNvSpPr txBox="1"/>
          <p:nvPr/>
        </p:nvSpPr>
        <p:spPr>
          <a:xfrm>
            <a:off x="4373275" y="4574121"/>
            <a:ext cx="36264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FFD78B"/>
                </a:solidFill>
              </a:rPr>
              <a:t>@allure.description("...") — </a:t>
            </a:r>
            <a:r>
              <a:rPr sz="1400" dirty="0" err="1">
                <a:solidFill>
                  <a:srgbClr val="FFD78B"/>
                </a:solidFill>
              </a:rPr>
              <a:t>описание</a:t>
            </a:r>
            <a:r>
              <a:rPr lang="ru-RU" sz="1400" dirty="0">
                <a:solidFill>
                  <a:srgbClr val="FFD78B"/>
                </a:solidFill>
              </a:rPr>
              <a:t> теста, что проверяем</a:t>
            </a:r>
            <a:endParaRPr sz="1400" dirty="0">
              <a:solidFill>
                <a:srgbClr val="FFD78B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347611" y="5235140"/>
            <a:ext cx="3746020" cy="61352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25" name="TextBox 24"/>
          <p:cNvSpPr txBox="1"/>
          <p:nvPr/>
        </p:nvSpPr>
        <p:spPr>
          <a:xfrm>
            <a:off x="4408110" y="5257598"/>
            <a:ext cx="36264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FFD78B"/>
                </a:solidFill>
              </a:rPr>
              <a:t>with </a:t>
            </a:r>
            <a:r>
              <a:rPr sz="1400" dirty="0" err="1">
                <a:solidFill>
                  <a:srgbClr val="FFD78B"/>
                </a:solidFill>
              </a:rPr>
              <a:t>allure.step</a:t>
            </a:r>
            <a:r>
              <a:rPr sz="1400" dirty="0">
                <a:solidFill>
                  <a:srgbClr val="FFD78B"/>
                </a:solidFill>
              </a:rPr>
              <a:t>("..."):    — </a:t>
            </a:r>
            <a:r>
              <a:rPr lang="ru-RU" sz="1400" dirty="0">
                <a:solidFill>
                  <a:srgbClr val="FFD78B"/>
                </a:solidFill>
              </a:rPr>
              <a:t>каждый шаг виден, если тест упал сразу видно на каком шаге</a:t>
            </a:r>
            <a:endParaRPr sz="1400" dirty="0">
              <a:solidFill>
                <a:srgbClr val="FFD78B"/>
              </a:solidFill>
            </a:endParaRP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CCE1A851-48C8-97F1-0B24-CE1BD9575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8" y="1007050"/>
            <a:ext cx="4233225" cy="486135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02D2580-F45B-B89B-0A0A-5430E2BBB4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3275" y="1015528"/>
            <a:ext cx="3754787" cy="24397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93" y="953913"/>
            <a:ext cx="8157458" cy="513038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3" name="Rectangle 2"/>
          <p:cNvSpPr/>
          <p:nvPr/>
        </p:nvSpPr>
        <p:spPr>
          <a:xfrm>
            <a:off x="0" y="-2781"/>
            <a:ext cx="8159750" cy="9329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4" name="TextBox 3"/>
          <p:cNvSpPr txBox="1"/>
          <p:nvPr/>
        </p:nvSpPr>
        <p:spPr>
          <a:xfrm>
            <a:off x="216545" y="-26507"/>
            <a:ext cx="77783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200" b="1" dirty="0">
                <a:solidFill>
                  <a:srgbClr val="FFFFFF"/>
                </a:solidFill>
              </a:rPr>
              <a:t>Результаты работы</a:t>
            </a:r>
            <a:endParaRPr sz="3200" b="1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 flipV="1">
            <a:off x="1" y="938768"/>
            <a:ext cx="8159750" cy="45719"/>
          </a:xfrm>
          <a:prstGeom prst="rect">
            <a:avLst/>
          </a:prstGeom>
          <a:solidFill>
            <a:srgbClr val="009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6" name="Rectangle 5"/>
          <p:cNvSpPr/>
          <p:nvPr/>
        </p:nvSpPr>
        <p:spPr>
          <a:xfrm>
            <a:off x="-3842" y="5874142"/>
            <a:ext cx="8168179" cy="241881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8" name="TextBox 7"/>
          <p:cNvSpPr txBox="1"/>
          <p:nvPr/>
        </p:nvSpPr>
        <p:spPr>
          <a:xfrm>
            <a:off x="7719772" y="5840039"/>
            <a:ext cx="4376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solidFill>
                  <a:srgbClr val="009BD8"/>
                </a:solidFill>
              </a:rPr>
              <a:t>1</a:t>
            </a:r>
            <a:r>
              <a:rPr lang="ru-RU" sz="1400" dirty="0">
                <a:solidFill>
                  <a:srgbClr val="009BD8"/>
                </a:solidFill>
              </a:rPr>
              <a:t>6</a:t>
            </a:r>
            <a:endParaRPr sz="1400" dirty="0">
              <a:solidFill>
                <a:srgbClr val="009BD8"/>
              </a:solidFill>
            </a:endParaRPr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A5152BC9-D871-BCE0-D0CA-1414CD30397C}"/>
              </a:ext>
            </a:extLst>
          </p:cNvPr>
          <p:cNvSpPr/>
          <p:nvPr/>
        </p:nvSpPr>
        <p:spPr>
          <a:xfrm>
            <a:off x="182490" y="1456781"/>
            <a:ext cx="107334" cy="41975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634DED-2C15-8187-675D-F2B099B284BE}"/>
              </a:ext>
            </a:extLst>
          </p:cNvPr>
          <p:cNvSpPr txBox="1"/>
          <p:nvPr/>
        </p:nvSpPr>
        <p:spPr>
          <a:xfrm>
            <a:off x="375516" y="1010608"/>
            <a:ext cx="2418622" cy="37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813" b="1" dirty="0">
                <a:solidFill>
                  <a:srgbClr val="0D2B55"/>
                </a:solidFill>
              </a:rPr>
              <a:t>Форма записи</a:t>
            </a:r>
            <a:endParaRPr sz="1813" b="1" dirty="0">
              <a:solidFill>
                <a:srgbClr val="0D2B55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61F1C3-8C11-95D2-0AFC-90DF4BA04141}"/>
              </a:ext>
            </a:extLst>
          </p:cNvPr>
          <p:cNvSpPr txBox="1"/>
          <p:nvPr/>
        </p:nvSpPr>
        <p:spPr>
          <a:xfrm>
            <a:off x="327847" y="1243565"/>
            <a:ext cx="779388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000" dirty="0">
                <a:solidFill>
                  <a:srgbClr val="444455"/>
                </a:solidFill>
              </a:rPr>
              <a:t>Принимает номера телефона «00110011001» и дату «11111-11-11»</a:t>
            </a:r>
          </a:p>
          <a:p>
            <a:pPr algn="l"/>
            <a:r>
              <a:rPr lang="ru-RU" sz="2000" dirty="0">
                <a:solidFill>
                  <a:srgbClr val="444455"/>
                </a:solidFill>
              </a:rPr>
              <a:t>Заявка уходит без проверки, не получаем сообщения об ошибке «Некорректные данные»</a:t>
            </a:r>
          </a:p>
        </p:txBody>
      </p:sp>
      <p:sp>
        <p:nvSpPr>
          <p:cNvPr id="38" name="Rectangle 24">
            <a:extLst>
              <a:ext uri="{FF2B5EF4-FFF2-40B4-BE49-F238E27FC236}">
                <a16:creationId xmlns:a16="http://schemas.microsoft.com/office/drawing/2014/main" id="{D1861545-0F7F-614A-3A5B-7857EBA49E7F}"/>
              </a:ext>
            </a:extLst>
          </p:cNvPr>
          <p:cNvSpPr/>
          <p:nvPr/>
        </p:nvSpPr>
        <p:spPr>
          <a:xfrm>
            <a:off x="182490" y="2701387"/>
            <a:ext cx="107334" cy="41975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9A3C01-3A0E-68AA-6834-5A90AC22346D}"/>
              </a:ext>
            </a:extLst>
          </p:cNvPr>
          <p:cNvSpPr txBox="1"/>
          <p:nvPr/>
        </p:nvSpPr>
        <p:spPr>
          <a:xfrm>
            <a:off x="345336" y="2386779"/>
            <a:ext cx="2418622" cy="37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813" b="1" dirty="0">
                <a:solidFill>
                  <a:srgbClr val="0D2B55"/>
                </a:solidFill>
              </a:rPr>
              <a:t>Пустое поле телефона</a:t>
            </a:r>
            <a:endParaRPr sz="1813" b="1" dirty="0">
              <a:solidFill>
                <a:srgbClr val="0D2B55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EB60907-93CE-A110-501F-C53AA0144C68}"/>
              </a:ext>
            </a:extLst>
          </p:cNvPr>
          <p:cNvSpPr txBox="1"/>
          <p:nvPr/>
        </p:nvSpPr>
        <p:spPr>
          <a:xfrm>
            <a:off x="341514" y="2696954"/>
            <a:ext cx="76193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000" dirty="0">
                <a:solidFill>
                  <a:srgbClr val="444455"/>
                </a:solidFill>
              </a:rPr>
              <a:t>Заявка отправляется без предупреждения, менеджер не перезвонит, бесполезная запись, потеря клиента и репутации. </a:t>
            </a:r>
            <a:endParaRPr sz="2000" dirty="0">
              <a:solidFill>
                <a:srgbClr val="444455"/>
              </a:solidFill>
            </a:endParaRPr>
          </a:p>
        </p:txBody>
      </p:sp>
      <p:sp>
        <p:nvSpPr>
          <p:cNvPr id="48" name="Rectangle 24">
            <a:extLst>
              <a:ext uri="{FF2B5EF4-FFF2-40B4-BE49-F238E27FC236}">
                <a16:creationId xmlns:a16="http://schemas.microsoft.com/office/drawing/2014/main" id="{40991BA5-8A42-48CF-A74C-46091F340AC0}"/>
              </a:ext>
            </a:extLst>
          </p:cNvPr>
          <p:cNvSpPr/>
          <p:nvPr/>
        </p:nvSpPr>
        <p:spPr>
          <a:xfrm>
            <a:off x="180287" y="3926256"/>
            <a:ext cx="107334" cy="41975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FF78AD8-4CD9-FD92-9B25-1110D6BAA004}"/>
              </a:ext>
            </a:extLst>
          </p:cNvPr>
          <p:cNvSpPr txBox="1"/>
          <p:nvPr/>
        </p:nvSpPr>
        <p:spPr>
          <a:xfrm>
            <a:off x="375516" y="3480933"/>
            <a:ext cx="3392651" cy="37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813" b="1" dirty="0">
                <a:solidFill>
                  <a:srgbClr val="0D2B55"/>
                </a:solidFill>
              </a:rPr>
              <a:t>Ссылка на </a:t>
            </a:r>
            <a:r>
              <a:rPr lang="en-US" sz="1813" b="1" dirty="0" err="1">
                <a:solidFill>
                  <a:srgbClr val="0D2B55"/>
                </a:solidFill>
              </a:rPr>
              <a:t>Prodoctorov</a:t>
            </a:r>
            <a:r>
              <a:rPr lang="en-US" sz="1813" b="1" dirty="0">
                <a:solidFill>
                  <a:srgbClr val="0D2B55"/>
                </a:solidFill>
              </a:rPr>
              <a:t> </a:t>
            </a:r>
            <a:endParaRPr sz="1813" b="1" dirty="0">
              <a:solidFill>
                <a:srgbClr val="0D2B55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08B363D-636F-6C23-D551-0276DFA4C246}"/>
              </a:ext>
            </a:extLst>
          </p:cNvPr>
          <p:cNvSpPr txBox="1"/>
          <p:nvPr/>
        </p:nvSpPr>
        <p:spPr>
          <a:xfrm>
            <a:off x="353599" y="3785538"/>
            <a:ext cx="759521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000" dirty="0">
                <a:solidFill>
                  <a:srgbClr val="444455"/>
                </a:solidFill>
              </a:rPr>
              <a:t>Не переходит по ссылке, ведет на ту же страницу «Неврологи в Уфе» на сайте </a:t>
            </a:r>
            <a:r>
              <a:rPr lang="en-US" sz="2000" dirty="0" err="1">
                <a:solidFill>
                  <a:srgbClr val="444455"/>
                </a:solidFill>
              </a:rPr>
              <a:t>Alimma</a:t>
            </a:r>
            <a:r>
              <a:rPr lang="ru-RU" sz="2000" dirty="0">
                <a:solidFill>
                  <a:srgbClr val="444455"/>
                </a:solidFill>
              </a:rPr>
              <a:t>. Пациент не видит отзывы и рейтинг врача. Снижается доверие к клинике.</a:t>
            </a:r>
            <a:endParaRPr sz="2000" dirty="0">
              <a:solidFill>
                <a:srgbClr val="444455"/>
              </a:solidFill>
            </a:endParaRPr>
          </a:p>
        </p:txBody>
      </p:sp>
      <p:sp>
        <p:nvSpPr>
          <p:cNvPr id="54" name="Rectangle 24">
            <a:extLst>
              <a:ext uri="{FF2B5EF4-FFF2-40B4-BE49-F238E27FC236}">
                <a16:creationId xmlns:a16="http://schemas.microsoft.com/office/drawing/2014/main" id="{5805B16B-E337-455F-C51C-AFD025217DC3}"/>
              </a:ext>
            </a:extLst>
          </p:cNvPr>
          <p:cNvSpPr/>
          <p:nvPr/>
        </p:nvSpPr>
        <p:spPr>
          <a:xfrm>
            <a:off x="162878" y="5131954"/>
            <a:ext cx="107334" cy="41975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D662FD4-75ED-6782-FAD2-FF80AD41A5E3}"/>
              </a:ext>
            </a:extLst>
          </p:cNvPr>
          <p:cNvSpPr txBox="1"/>
          <p:nvPr/>
        </p:nvSpPr>
        <p:spPr>
          <a:xfrm>
            <a:off x="353599" y="4905048"/>
            <a:ext cx="3292293" cy="37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813" b="1" dirty="0">
                <a:solidFill>
                  <a:srgbClr val="0D2B55"/>
                </a:solidFill>
              </a:rPr>
              <a:t>Кнопки Пагинации  </a:t>
            </a:r>
            <a:r>
              <a:rPr lang="en-US" sz="1813" b="1" dirty="0">
                <a:solidFill>
                  <a:srgbClr val="0D2B55"/>
                </a:solidFill>
              </a:rPr>
              <a:t>Next/Prev </a:t>
            </a:r>
            <a:endParaRPr sz="1813" b="1" dirty="0">
              <a:solidFill>
                <a:srgbClr val="0D2B55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8127DA8-1BC7-14CF-D3B9-AECCD96E58A6}"/>
              </a:ext>
            </a:extLst>
          </p:cNvPr>
          <p:cNvSpPr txBox="1"/>
          <p:nvPr/>
        </p:nvSpPr>
        <p:spPr>
          <a:xfrm>
            <a:off x="345336" y="5190818"/>
            <a:ext cx="76960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000" dirty="0">
                <a:solidFill>
                  <a:srgbClr val="444455"/>
                </a:solidFill>
              </a:rPr>
              <a:t>Кнопки сливаются с фоном и не имеют текста или знака, пользователь не сможет листать  </a:t>
            </a:r>
            <a:endParaRPr sz="2000" dirty="0">
              <a:solidFill>
                <a:srgbClr val="444455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2E59800-9BD4-59D0-ED10-A14270598DE8}"/>
              </a:ext>
            </a:extLst>
          </p:cNvPr>
          <p:cNvSpPr txBox="1"/>
          <p:nvPr/>
        </p:nvSpPr>
        <p:spPr>
          <a:xfrm>
            <a:off x="226928" y="528029"/>
            <a:ext cx="7932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dirty="0">
                <a:solidFill>
                  <a:srgbClr val="009BD8"/>
                </a:solidFill>
              </a:rPr>
              <a:t>Найденные критические баги</a:t>
            </a:r>
            <a:endParaRPr dirty="0">
              <a:solidFill>
                <a:srgbClr val="009BD8"/>
              </a:solidFill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1C3F3DD-DB53-2192-E54B-E3479F37C32C}"/>
              </a:ext>
            </a:extLst>
          </p:cNvPr>
          <p:cNvSpPr/>
          <p:nvPr/>
        </p:nvSpPr>
        <p:spPr>
          <a:xfrm flipV="1">
            <a:off x="-3842" y="2281974"/>
            <a:ext cx="8176607" cy="50308"/>
          </a:xfrm>
          <a:prstGeom prst="rect">
            <a:avLst/>
          </a:prstGeom>
          <a:solidFill>
            <a:srgbClr val="009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D23F9A9-6222-7C4E-7891-D6EA63130B0F}"/>
              </a:ext>
            </a:extLst>
          </p:cNvPr>
          <p:cNvSpPr/>
          <p:nvPr/>
        </p:nvSpPr>
        <p:spPr>
          <a:xfrm flipV="1">
            <a:off x="-2293" y="3446247"/>
            <a:ext cx="8159750" cy="45719"/>
          </a:xfrm>
          <a:prstGeom prst="rect">
            <a:avLst/>
          </a:prstGeom>
          <a:solidFill>
            <a:srgbClr val="009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25687D5D-187F-1F54-4560-A43EC5AD2C86}"/>
              </a:ext>
            </a:extLst>
          </p:cNvPr>
          <p:cNvSpPr/>
          <p:nvPr/>
        </p:nvSpPr>
        <p:spPr>
          <a:xfrm flipV="1">
            <a:off x="4587" y="4839761"/>
            <a:ext cx="8159750" cy="45719"/>
          </a:xfrm>
          <a:prstGeom prst="rect">
            <a:avLst/>
          </a:prstGeom>
          <a:solidFill>
            <a:srgbClr val="009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7123" y="37972"/>
            <a:ext cx="8176873" cy="608184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 dirty="0"/>
          </a:p>
        </p:txBody>
      </p:sp>
      <p:sp>
        <p:nvSpPr>
          <p:cNvPr id="3" name="Rectangle 2"/>
          <p:cNvSpPr/>
          <p:nvPr/>
        </p:nvSpPr>
        <p:spPr>
          <a:xfrm>
            <a:off x="-17124" y="1840"/>
            <a:ext cx="8176874" cy="9329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4" name="TextBox 3"/>
          <p:cNvSpPr txBox="1"/>
          <p:nvPr/>
        </p:nvSpPr>
        <p:spPr>
          <a:xfrm>
            <a:off x="132625" y="125158"/>
            <a:ext cx="78773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 err="1">
                <a:solidFill>
                  <a:srgbClr val="FFFFFF"/>
                </a:solidFill>
              </a:rPr>
              <a:t>Результаты</a:t>
            </a:r>
            <a:r>
              <a:rPr sz="3200" b="1" dirty="0">
                <a:solidFill>
                  <a:srgbClr val="FFFFFF"/>
                </a:solidFill>
              </a:rPr>
              <a:t> </a:t>
            </a:r>
            <a:r>
              <a:rPr sz="3200" b="1" dirty="0" err="1">
                <a:solidFill>
                  <a:srgbClr val="FFFFFF"/>
                </a:solidFill>
              </a:rPr>
              <a:t>работы</a:t>
            </a:r>
            <a:endParaRPr sz="3200" b="1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-17125" y="909804"/>
            <a:ext cx="8176875" cy="45719"/>
          </a:xfrm>
          <a:prstGeom prst="rect">
            <a:avLst/>
          </a:prstGeom>
          <a:solidFill>
            <a:srgbClr val="009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6" name="Rectangle 5"/>
          <p:cNvSpPr/>
          <p:nvPr/>
        </p:nvSpPr>
        <p:spPr>
          <a:xfrm>
            <a:off x="-17124" y="5907721"/>
            <a:ext cx="8176874" cy="227925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8" name="TextBox 7"/>
          <p:cNvSpPr txBox="1"/>
          <p:nvPr/>
        </p:nvSpPr>
        <p:spPr>
          <a:xfrm>
            <a:off x="7681968" y="5866591"/>
            <a:ext cx="4777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400" dirty="0">
                <a:solidFill>
                  <a:srgbClr val="009BD8"/>
                </a:solidFill>
              </a:rPr>
              <a:t>17</a:t>
            </a:r>
            <a:endParaRPr sz="1400" dirty="0">
              <a:solidFill>
                <a:srgbClr val="009BD8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41608" y="2691336"/>
            <a:ext cx="2046421" cy="140458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 dirty="0"/>
          </a:p>
        </p:txBody>
      </p:sp>
      <p:sp>
        <p:nvSpPr>
          <p:cNvPr id="13" name="TextBox 12"/>
          <p:cNvSpPr txBox="1"/>
          <p:nvPr/>
        </p:nvSpPr>
        <p:spPr>
          <a:xfrm>
            <a:off x="268371" y="2727467"/>
            <a:ext cx="176904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dirty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1624" y="3355991"/>
            <a:ext cx="17690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dirty="0" err="1">
                <a:solidFill>
                  <a:srgbClr val="CCE4FF"/>
                </a:solidFill>
              </a:rPr>
              <a:t>автотестов</a:t>
            </a:r>
            <a:r>
              <a:rPr dirty="0">
                <a:solidFill>
                  <a:srgbClr val="CCE4FF"/>
                </a:solidFill>
              </a:rPr>
              <a:t>
</a:t>
            </a:r>
            <a:r>
              <a:rPr dirty="0" err="1">
                <a:solidFill>
                  <a:srgbClr val="CCE4FF"/>
                </a:solidFill>
              </a:rPr>
              <a:t>реализовано</a:t>
            </a:r>
            <a:endParaRPr dirty="0">
              <a:solidFill>
                <a:srgbClr val="CCE4FF"/>
              </a:solidFill>
            </a:endParaRPr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1CC3E1FE-5482-A837-34EA-5EDC9ED6B198}"/>
              </a:ext>
            </a:extLst>
          </p:cNvPr>
          <p:cNvSpPr/>
          <p:nvPr/>
        </p:nvSpPr>
        <p:spPr>
          <a:xfrm>
            <a:off x="141607" y="1104508"/>
            <a:ext cx="2046421" cy="1404579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1F4E09-AC65-2380-BB59-E9CE825F4F52}"/>
              </a:ext>
            </a:extLst>
          </p:cNvPr>
          <p:cNvSpPr txBox="1"/>
          <p:nvPr/>
        </p:nvSpPr>
        <p:spPr>
          <a:xfrm>
            <a:off x="125895" y="1120340"/>
            <a:ext cx="196203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dirty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302E9A-B00E-3559-711D-C6A48D3AC311}"/>
              </a:ext>
            </a:extLst>
          </p:cNvPr>
          <p:cNvSpPr txBox="1"/>
          <p:nvPr/>
        </p:nvSpPr>
        <p:spPr>
          <a:xfrm>
            <a:off x="241624" y="1778473"/>
            <a:ext cx="17690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dirty="0" err="1">
                <a:solidFill>
                  <a:srgbClr val="CCE4FF"/>
                </a:solidFill>
              </a:rPr>
              <a:t>тест-кейсов</a:t>
            </a:r>
            <a:r>
              <a:rPr dirty="0">
                <a:solidFill>
                  <a:srgbClr val="CCE4FF"/>
                </a:solidFill>
              </a:rPr>
              <a:t>
</a:t>
            </a:r>
            <a:r>
              <a:rPr dirty="0" err="1">
                <a:solidFill>
                  <a:srgbClr val="CCE4FF"/>
                </a:solidFill>
              </a:rPr>
              <a:t>разработано</a:t>
            </a:r>
            <a:endParaRPr dirty="0">
              <a:solidFill>
                <a:srgbClr val="CCE4FF"/>
              </a:solidFill>
            </a:endParaRPr>
          </a:p>
        </p:txBody>
      </p:sp>
      <p:sp>
        <p:nvSpPr>
          <p:cNvPr id="35" name="Rectangle 14">
            <a:extLst>
              <a:ext uri="{FF2B5EF4-FFF2-40B4-BE49-F238E27FC236}">
                <a16:creationId xmlns:a16="http://schemas.microsoft.com/office/drawing/2014/main" id="{F420FECF-3EF0-ADD0-2A2B-FC04428FCBFB}"/>
              </a:ext>
            </a:extLst>
          </p:cNvPr>
          <p:cNvSpPr/>
          <p:nvPr/>
        </p:nvSpPr>
        <p:spPr>
          <a:xfrm>
            <a:off x="141608" y="4320525"/>
            <a:ext cx="2046421" cy="140458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36AE7F-804E-4795-731D-64342993F609}"/>
              </a:ext>
            </a:extLst>
          </p:cNvPr>
          <p:cNvSpPr txBox="1"/>
          <p:nvPr/>
        </p:nvSpPr>
        <p:spPr>
          <a:xfrm>
            <a:off x="179958" y="4409899"/>
            <a:ext cx="175972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EF3CA8-9B2B-46FF-DF1B-D42ED41B1AA2}"/>
              </a:ext>
            </a:extLst>
          </p:cNvPr>
          <p:cNvSpPr txBox="1"/>
          <p:nvPr/>
        </p:nvSpPr>
        <p:spPr>
          <a:xfrm>
            <a:off x="241624" y="4999473"/>
            <a:ext cx="17597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rgbClr val="CCE4FF"/>
                </a:solidFill>
              </a:rPr>
              <a:t>найденных
бага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B0BC0E-656F-2EAA-DDD4-9E2F491F18CB}"/>
              </a:ext>
            </a:extLst>
          </p:cNvPr>
          <p:cNvSpPr txBox="1"/>
          <p:nvPr/>
        </p:nvSpPr>
        <p:spPr>
          <a:xfrm>
            <a:off x="2214691" y="1193007"/>
            <a:ext cx="579530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dirty="0">
                <a:solidFill>
                  <a:srgbClr val="002060"/>
                </a:solidFill>
              </a:rPr>
              <a:t>▸</a:t>
            </a:r>
            <a:r>
              <a:rPr lang="ru-RU" sz="2800" dirty="0" err="1">
                <a:solidFill>
                  <a:srgbClr val="002060"/>
                </a:solidFill>
              </a:rPr>
              <a:t>автотесты</a:t>
            </a:r>
            <a:r>
              <a:rPr lang="ru-RU" sz="2800" dirty="0">
                <a:solidFill>
                  <a:srgbClr val="002060"/>
                </a:solidFill>
              </a:rPr>
              <a:t> проверяют </a:t>
            </a:r>
            <a:r>
              <a:rPr sz="2800" dirty="0" err="1">
                <a:solidFill>
                  <a:srgbClr val="002060"/>
                </a:solidFill>
              </a:rPr>
              <a:t>ключевы</a:t>
            </a:r>
            <a:r>
              <a:rPr lang="ru-RU" sz="2800" dirty="0">
                <a:solidFill>
                  <a:srgbClr val="002060"/>
                </a:solidFill>
              </a:rPr>
              <a:t>е</a:t>
            </a:r>
            <a:r>
              <a:rPr sz="2800" dirty="0">
                <a:solidFill>
                  <a:srgbClr val="002060"/>
                </a:solidFill>
              </a:rPr>
              <a:t> </a:t>
            </a:r>
            <a:r>
              <a:rPr sz="2800" dirty="0" err="1">
                <a:solidFill>
                  <a:srgbClr val="002060"/>
                </a:solidFill>
              </a:rPr>
              <a:t>сценари</a:t>
            </a:r>
            <a:r>
              <a:rPr lang="ru-RU" sz="2800" dirty="0">
                <a:solidFill>
                  <a:srgbClr val="002060"/>
                </a:solidFill>
              </a:rPr>
              <a:t>и </a:t>
            </a:r>
            <a:r>
              <a:rPr sz="2800" dirty="0" err="1">
                <a:solidFill>
                  <a:srgbClr val="002060"/>
                </a:solidFill>
              </a:rPr>
              <a:t>сайта</a:t>
            </a:r>
            <a:r>
              <a:rPr sz="2800" dirty="0">
                <a:solidFill>
                  <a:srgbClr val="002060"/>
                </a:solidFill>
              </a:rPr>
              <a:t>
</a:t>
            </a:r>
            <a:r>
              <a:rPr lang="ru-RU" sz="2800" dirty="0">
                <a:solidFill>
                  <a:srgbClr val="002060"/>
                </a:solidFill>
              </a:rPr>
              <a:t>▸архитектура </a:t>
            </a:r>
            <a:r>
              <a:rPr lang="ru-RU" sz="2800" dirty="0" err="1">
                <a:solidFill>
                  <a:srgbClr val="002060"/>
                </a:solidFill>
              </a:rPr>
              <a:t>автотестов</a:t>
            </a:r>
            <a:r>
              <a:rPr lang="ru-RU" sz="2800" dirty="0">
                <a:solidFill>
                  <a:srgbClr val="002060"/>
                </a:solidFill>
              </a:rPr>
              <a:t> для лёгкой поддержки: </a:t>
            </a:r>
            <a:r>
              <a:rPr lang="ru-RU" sz="2800" dirty="0" err="1">
                <a:solidFill>
                  <a:srgbClr val="002060"/>
                </a:solidFill>
              </a:rPr>
              <a:t>Controls</a:t>
            </a:r>
            <a:r>
              <a:rPr lang="ru-RU" sz="2800" dirty="0">
                <a:solidFill>
                  <a:srgbClr val="002060"/>
                </a:solidFill>
              </a:rPr>
              <a:t> → </a:t>
            </a:r>
            <a:r>
              <a:rPr lang="ru-RU" sz="2800" dirty="0" err="1">
                <a:solidFill>
                  <a:srgbClr val="002060"/>
                </a:solidFill>
              </a:rPr>
              <a:t>Components</a:t>
            </a:r>
            <a:r>
              <a:rPr lang="ru-RU" sz="2800" dirty="0">
                <a:solidFill>
                  <a:srgbClr val="002060"/>
                </a:solidFill>
              </a:rPr>
              <a:t> → </a:t>
            </a:r>
            <a:r>
              <a:rPr lang="ru-RU" sz="2800" dirty="0" err="1">
                <a:solidFill>
                  <a:srgbClr val="002060"/>
                </a:solidFill>
              </a:rPr>
              <a:t>Pages</a:t>
            </a:r>
            <a:r>
              <a:rPr lang="ru-RU" sz="2800" dirty="0">
                <a:solidFill>
                  <a:srgbClr val="002060"/>
                </a:solidFill>
              </a:rPr>
              <a:t> → </a:t>
            </a:r>
            <a:r>
              <a:rPr lang="ru-RU" sz="2800" dirty="0" err="1">
                <a:solidFill>
                  <a:srgbClr val="002060"/>
                </a:solidFill>
              </a:rPr>
              <a:t>Tests</a:t>
            </a:r>
            <a:r>
              <a:rPr lang="ru-RU" sz="2800" dirty="0">
                <a:solidFill>
                  <a:srgbClr val="002060"/>
                </a:solidFill>
              </a:rPr>
              <a:t> </a:t>
            </a:r>
            <a:r>
              <a:rPr sz="2800" dirty="0">
                <a:solidFill>
                  <a:srgbClr val="002060"/>
                </a:solidFill>
              </a:rPr>
              <a:t>
▸</a:t>
            </a:r>
            <a:r>
              <a:rPr sz="2800" dirty="0" err="1">
                <a:solidFill>
                  <a:srgbClr val="002060"/>
                </a:solidFill>
              </a:rPr>
              <a:t>современн</a:t>
            </a:r>
            <a:r>
              <a:rPr lang="ru-RU" sz="2800" dirty="0" err="1">
                <a:solidFill>
                  <a:srgbClr val="002060"/>
                </a:solidFill>
              </a:rPr>
              <a:t>ый</a:t>
            </a:r>
            <a:r>
              <a:rPr lang="ru-RU" sz="2800" dirty="0">
                <a:solidFill>
                  <a:srgbClr val="002060"/>
                </a:solidFill>
              </a:rPr>
              <a:t> стек: </a:t>
            </a:r>
            <a:r>
              <a:rPr sz="2800" dirty="0">
                <a:solidFill>
                  <a:srgbClr val="002060"/>
                </a:solidFill>
              </a:rPr>
              <a:t>Python + </a:t>
            </a:r>
            <a:r>
              <a:rPr sz="2800" dirty="0" err="1">
                <a:solidFill>
                  <a:srgbClr val="002060"/>
                </a:solidFill>
              </a:rPr>
              <a:t>PyTest</a:t>
            </a:r>
            <a:r>
              <a:rPr sz="2800" dirty="0">
                <a:solidFill>
                  <a:srgbClr val="002060"/>
                </a:solidFill>
              </a:rPr>
              <a:t> + Playwright + Allure</a:t>
            </a:r>
            <a:endParaRPr lang="ru-RU" sz="2800" dirty="0">
              <a:solidFill>
                <a:srgbClr val="002060"/>
              </a:solidFill>
            </a:endParaRPr>
          </a:p>
          <a:p>
            <a:r>
              <a:rPr sz="2800" dirty="0">
                <a:solidFill>
                  <a:srgbClr val="002060"/>
                </a:solidFill>
              </a:rPr>
              <a:t>▸</a:t>
            </a:r>
            <a:r>
              <a:rPr sz="2800" dirty="0" err="1">
                <a:solidFill>
                  <a:srgbClr val="002060"/>
                </a:solidFill>
              </a:rPr>
              <a:t>наглядные</a:t>
            </a:r>
            <a:r>
              <a:rPr sz="2800" dirty="0">
                <a:solidFill>
                  <a:srgbClr val="002060"/>
                </a:solidFill>
              </a:rPr>
              <a:t> </a:t>
            </a:r>
            <a:r>
              <a:rPr sz="2800" dirty="0" err="1">
                <a:solidFill>
                  <a:srgbClr val="002060"/>
                </a:solidFill>
              </a:rPr>
              <a:t>отчёты</a:t>
            </a:r>
            <a:r>
              <a:rPr sz="2800" dirty="0">
                <a:solidFill>
                  <a:srgbClr val="002060"/>
                </a:solidFill>
              </a:rPr>
              <a:t> о </a:t>
            </a:r>
            <a:r>
              <a:rPr sz="2800" dirty="0" err="1">
                <a:solidFill>
                  <a:srgbClr val="002060"/>
                </a:solidFill>
              </a:rPr>
              <a:t>результатах</a:t>
            </a:r>
            <a:r>
              <a:rPr sz="2800" dirty="0">
                <a:solidFill>
                  <a:srgbClr val="002060"/>
                </a:solidFill>
              </a:rPr>
              <a:t> </a:t>
            </a:r>
            <a:r>
              <a:rPr sz="2800" dirty="0" err="1">
                <a:solidFill>
                  <a:srgbClr val="002060"/>
                </a:solidFill>
              </a:rPr>
              <a:t>каждого</a:t>
            </a:r>
            <a:r>
              <a:rPr lang="ru-RU" sz="2800" dirty="0">
                <a:solidFill>
                  <a:srgbClr val="002060"/>
                </a:solidFill>
              </a:rPr>
              <a:t> теста в </a:t>
            </a:r>
            <a:r>
              <a:rPr lang="ru-RU" sz="2800" dirty="0" err="1">
                <a:solidFill>
                  <a:srgbClr val="002060"/>
                </a:solidFill>
              </a:rPr>
              <a:t>Аllure</a:t>
            </a:r>
            <a:r>
              <a:rPr lang="ru-RU" sz="2800" dirty="0">
                <a:solidFill>
                  <a:srgbClr val="002060"/>
                </a:solidFill>
              </a:rPr>
              <a:t> </a:t>
            </a:r>
          </a:p>
          <a:p>
            <a:r>
              <a:rPr lang="ru-RU" sz="2800" dirty="0">
                <a:solidFill>
                  <a:srgbClr val="002060"/>
                </a:solidFill>
              </a:rPr>
              <a:t>▸ выявлено 4 бага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" y="-21780"/>
            <a:ext cx="8159750" cy="6119813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 dirty="0"/>
          </a:p>
        </p:txBody>
      </p:sp>
      <p:sp>
        <p:nvSpPr>
          <p:cNvPr id="3" name="Rectangle 2"/>
          <p:cNvSpPr/>
          <p:nvPr/>
        </p:nvSpPr>
        <p:spPr>
          <a:xfrm>
            <a:off x="-1" y="-46114"/>
            <a:ext cx="8159750" cy="55287"/>
          </a:xfrm>
          <a:prstGeom prst="rect">
            <a:avLst/>
          </a:prstGeom>
          <a:solidFill>
            <a:srgbClr val="009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4" name="Rectangle 3"/>
          <p:cNvSpPr/>
          <p:nvPr/>
        </p:nvSpPr>
        <p:spPr>
          <a:xfrm>
            <a:off x="1" y="6070390"/>
            <a:ext cx="8159750" cy="55287"/>
          </a:xfrm>
          <a:prstGeom prst="rect">
            <a:avLst/>
          </a:prstGeom>
          <a:solidFill>
            <a:srgbClr val="009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5" name="TextBox 4"/>
          <p:cNvSpPr txBox="1"/>
          <p:nvPr/>
        </p:nvSpPr>
        <p:spPr>
          <a:xfrm>
            <a:off x="-180681" y="53758"/>
            <a:ext cx="85211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dirty="0">
                <a:solidFill>
                  <a:srgbClr val="FFFFFF"/>
                </a:solidFill>
              </a:rPr>
              <a:t>ЗАКЛЮЧЕНИЕ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2583667" y="624069"/>
            <a:ext cx="2992411" cy="41466"/>
          </a:xfrm>
          <a:prstGeom prst="rect">
            <a:avLst/>
          </a:prstGeom>
          <a:solidFill>
            <a:srgbClr val="009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7" name="TextBox 6"/>
          <p:cNvSpPr txBox="1"/>
          <p:nvPr/>
        </p:nvSpPr>
        <p:spPr>
          <a:xfrm>
            <a:off x="329723" y="700089"/>
            <a:ext cx="766516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</a:rPr>
              <a:t>В ходе тестирования обнаружены реальные проблемы, которые влияют на бизнес (потеря клиентов, репутация). Внедрение тестов на проект </a:t>
            </a:r>
            <a:r>
              <a:rPr lang="en-US" sz="3200" dirty="0">
                <a:solidFill>
                  <a:srgbClr val="FFFFFF"/>
                </a:solidFill>
              </a:rPr>
              <a:t>«</a:t>
            </a:r>
            <a:r>
              <a:rPr lang="en-US" sz="3200" dirty="0" err="1">
                <a:solidFill>
                  <a:srgbClr val="FFFFFF"/>
                </a:solidFill>
              </a:rPr>
              <a:t>Alimma</a:t>
            </a:r>
            <a:r>
              <a:rPr lang="en-US" sz="3200" dirty="0">
                <a:solidFill>
                  <a:srgbClr val="FFFFFF"/>
                </a:solidFill>
              </a:rPr>
              <a:t>» </a:t>
            </a:r>
            <a:r>
              <a:rPr lang="ru-RU" sz="3200" dirty="0">
                <a:solidFill>
                  <a:schemeClr val="bg1"/>
                </a:solidFill>
              </a:rPr>
              <a:t>оправдано и необходимо.</a:t>
            </a:r>
            <a:endParaRPr sz="2800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4861" y="5123105"/>
            <a:ext cx="7830025" cy="27643"/>
          </a:xfrm>
          <a:prstGeom prst="rect">
            <a:avLst/>
          </a:prstGeom>
          <a:solidFill>
            <a:srgbClr val="009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60"/>
          </a:p>
        </p:txBody>
      </p:sp>
      <p:sp>
        <p:nvSpPr>
          <p:cNvPr id="10" name="TextBox 9"/>
          <p:cNvSpPr txBox="1"/>
          <p:nvPr/>
        </p:nvSpPr>
        <p:spPr>
          <a:xfrm>
            <a:off x="971514" y="5150748"/>
            <a:ext cx="58869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dirty="0" err="1">
                <a:solidFill>
                  <a:srgbClr val="FFFFFF"/>
                </a:solidFill>
              </a:rPr>
              <a:t>Спасибо</a:t>
            </a:r>
            <a:r>
              <a:rPr sz="4400" b="1" dirty="0">
                <a:solidFill>
                  <a:srgbClr val="FFFFFF"/>
                </a:solidFill>
              </a:rPr>
              <a:t> </a:t>
            </a:r>
            <a:r>
              <a:rPr sz="4400" b="1" dirty="0" err="1">
                <a:solidFill>
                  <a:srgbClr val="FFFFFF"/>
                </a:solidFill>
              </a:rPr>
              <a:t>за</a:t>
            </a:r>
            <a:r>
              <a:rPr sz="4400" b="1" dirty="0">
                <a:solidFill>
                  <a:srgbClr val="FFFFFF"/>
                </a:solidFill>
              </a:rPr>
              <a:t> </a:t>
            </a:r>
            <a:r>
              <a:rPr sz="4400" b="1" dirty="0" err="1">
                <a:solidFill>
                  <a:srgbClr val="FFFFFF"/>
                </a:solidFill>
              </a:rPr>
              <a:t>внимание</a:t>
            </a:r>
            <a:r>
              <a:rPr sz="4400" b="1" dirty="0">
                <a:solidFill>
                  <a:srgbClr val="FFFFFF"/>
                </a:solidFill>
              </a:rPr>
              <a:t>!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0E8A1C7-BFD4-4E8B-36C9-740F54506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724" y="3439532"/>
            <a:ext cx="3545590" cy="146339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D7F989C-1972-C088-1BC5-C24329C33C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4736" y="3439532"/>
            <a:ext cx="3545590" cy="14633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1285</TotalTime>
  <Words>1978</Words>
  <Application>Microsoft Office PowerPoint</Application>
  <PresentationFormat>Произвольный</PresentationFormat>
  <Paragraphs>304</Paragraphs>
  <Slides>18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Анастасия Шавалеева</cp:lastModifiedBy>
  <cp:revision>32</cp:revision>
  <dcterms:created xsi:type="dcterms:W3CDTF">2013-01-27T09:14:16Z</dcterms:created>
  <dcterms:modified xsi:type="dcterms:W3CDTF">2026-04-22T05:31:28Z</dcterms:modified>
  <cp:category/>
</cp:coreProperties>
</file>